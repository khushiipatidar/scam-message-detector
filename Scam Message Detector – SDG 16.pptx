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Mera project ek Scam Message Detector hai. Ye WhatsApp ya SMS ka message padhkar batata hai ki wo scam hai ya genuine. Ye SDG 16 se juda hai: Peace, Justice and Strong Institutions. Pehle slide me apna naam, course aur date likhna mat bhoolna.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simple hai: log fake KYC, lottery, parcel fee aur ghar baithe kamai wale messages ke chakkar me paisa ganwa dete hain. Chhote shehron aur gaon me ye aur zyada hota hai, kyunki log scam aur asli message me fark nahi kar paate. Koi statistic yaad se mat bolna, bas ye 4 patterns samjhana.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16 ka matlab hai shanti, nyay aur majboot sansthayein. Online fraud se log banks aur digital services par bharosa kho dete hain. Hamara tool logon ko scam pehchanne me madad karta hai, isliye ye SDG 16 se judta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do jagah se hai. English ke liye Kaggle ka SMS Spam Collection, jisme 5,572 messages hain. Hindi aur Hinglish ke liye maine khud 56 messages likhe, jisme 20 Devanagari script me hain. Kul 5,628 messages me sirf 14 percent scam hain, isliye model ko scam examples par zyada dhyan dene ko kaha (class weight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ka pipeline simple hai. Message aata hai, lowercase hota hai, TF-IDF se words aur word pairs numbers me badalte hain, phir Logistic Regression decide karta hai scam hai ya genuine, aur ek probability deta hai. Isme GPU ki zarurat nahi, laptop par chalta hai. Maine Devanagari ke liye tokenizer bhi badla, taki Hindi script ke shabd toote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me 1,126 messages the, jo training me use nahi hue. Accuracy 98 percent. Scam ke liye precision 0.94 aur recall 0.95. Confusion matrix: 147 scam pakde, 8 miss hue, 10 genuine messages galti se scam bole gaye, 961 genuine sahi pehchane gaye.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Pehle model Naive Bayes tha aur sirf 20 Hindi messages the. Usme 151 me se 29 scam miss ho rahe the, recall 0.81. Phir Hindi data badhaya, Logistic Regression aur class weight lagaya. Ab recall 0.95 hai aur sirf 8 scam miss hue. Trade-off ye hai ki genuine messages ko galti se scam bolna 1 se 10 ho gaya, par scam miss karna zyada nuksan wala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live demo. Terminal me streamlit run app.py chalao aur browser me localhost:8501 kholo. Ek scam message paste karo, Check message dabao. Lal box ka matlab scam, peela matlab shak, hara matlab genuine. Upar toggle se Hindi me bhi switch karke dikhao. Demo se pehle teeno examples ek baar khud test kar lena.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khud batana achha hota hai, isse samajh dikhti hai. Hindi data kam hai, English data purana hai, model sirf shabd dekhta hai link ya number nahi, aur result sirf screening hai, final saboot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Aage ke liye: zyada Hindi data, WhatsApp ya Telegram bot, BERT jaisa strong model, aur link aur sender number ki jaanch.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Dhanyavaad. Ant me ye zaroor bolna: koi bhi shak wala message aaye to link par click mat karo, OTP kisi ko mat do, aur cyber fraud ho jaye to 1930 par report karo. Phir questions ke liye poochho.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2203F"/>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2203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2203F"/>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2203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3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889000"/>
            <a:ext cx="3302000" cy="3302000"/>
          </a:xfrm>
          <a:prstGeom prst="rect">
            <a:avLst/>
          </a:prstGeom>
        </p:spPr>
      </p:pic>
      <p:pic>
        <p:nvPicPr>
          <p:cNvPr id="3" name="Image 1" descr="ellipse">    </p:cNvPr>
          <p:cNvPicPr>
            <a:picLocks noChangeAspect="1"/>
          </p:cNvPicPr>
          <p:nvPr/>
        </p:nvPicPr>
        <p:blipFill>
          <a:blip r:embed="rId2"/>
          <a:srcRect l="0" r="0" t="0" b="0"/>
          <a:stretch/>
        </p:blipFill>
        <p:spPr>
          <a:xfrm>
            <a:off x="9652000" y="4064000"/>
            <a:ext cx="1270000" cy="1270000"/>
          </a:xfrm>
          <a:prstGeom prst="rect">
            <a:avLst/>
          </a:prstGeom>
        </p:spPr>
      </p:pic>
      <p:pic>
        <p:nvPicPr>
          <p:cNvPr id="4" name="Image 2" descr="Verified">    </p:cNvPr>
          <p:cNvPicPr>
            <a:picLocks noChangeAspect="1"/>
          </p:cNvPicPr>
          <p:nvPr/>
        </p:nvPicPr>
        <p:blipFill>
          <a:blip r:embed="rId3"/>
          <a:srcRect l="0" r="0" t="0" b="0"/>
          <a:stretch/>
        </p:blipFill>
        <p:spPr>
          <a:xfrm>
            <a:off x="8128000" y="1524000"/>
            <a:ext cx="2032000" cy="2032000"/>
          </a:xfrm>
          <a:prstGeom prst="rect">
            <a:avLst/>
          </a:prstGeom>
        </p:spPr>
      </p:pic>
      <p:sp>
        <p:nvSpPr>
          <p:cNvPr id="5" name="Text 0"/>
          <p:cNvSpPr/>
          <p:nvPr/>
        </p:nvSpPr>
        <p:spPr>
          <a:xfrm>
            <a:off x="812800" y="1988939"/>
            <a:ext cx="6802120"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772E"/>
                </a:solidFill>
                <a:latin typeface="Arial" pitchFamily="34" charset="0"/>
                <a:ea typeface="Arial" pitchFamily="34" charset="-122"/>
                <a:cs typeface="Arial" pitchFamily="34" charset="-120"/>
              </a:rPr>
              <a:t>SDG 16 · PEACE, JUSTICE AND STRONG INSTITUTIONS</a:t>
            </a:r>
            <a:endParaRPr lang="en-US" sz="1400" dirty="0"/>
          </a:p>
        </p:txBody>
      </p:sp>
      <p:sp>
        <p:nvSpPr>
          <p:cNvPr id="6" name="Text 1"/>
          <p:cNvSpPr/>
          <p:nvPr>
            <p:ph type="title"/>
          </p:nvPr>
        </p:nvSpPr>
        <p:spPr>
          <a:xfrm>
            <a:off x="812800" y="2415580"/>
            <a:ext cx="6802120" cy="1589881"/>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7F6F2"/>
                </a:solidFill>
                <a:latin typeface="Georgia" pitchFamily="18" charset="0"/>
                <a:ea typeface="Georgia" pitchFamily="18" charset="-122"/>
                <a:cs typeface="Georgia" pitchFamily="18" charset="-120"/>
              </a:rPr>
              <a:t>Scam Message Detector</a:t>
            </a:r>
            <a:endParaRPr lang="en-US" sz="5600" dirty="0"/>
          </a:p>
        </p:txBody>
      </p:sp>
      <p:sp>
        <p:nvSpPr>
          <p:cNvPr id="7" name="Text 2"/>
          <p:cNvSpPr/>
          <p:nvPr/>
        </p:nvSpPr>
        <p:spPr>
          <a:xfrm>
            <a:off x="812800" y="4157861"/>
            <a:ext cx="680212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FC8E0"/>
                </a:solidFill>
                <a:latin typeface="Arial" pitchFamily="34" charset="0"/>
                <a:ea typeface="Arial" pitchFamily="34" charset="-122"/>
                <a:cs typeface="Arial" pitchFamily="34" charset="-120"/>
              </a:rPr>
              <a:t>Spotting fake WhatsApp and SMS messages in English, Hindi and Hinglish with machine learning</a:t>
            </a:r>
            <a:endParaRPr lang="en-US" sz="2000" dirty="0"/>
          </a:p>
        </p:txBody>
      </p:sp>
      <p:sp>
        <p:nvSpPr>
          <p:cNvPr id="8" name="Text 3"/>
          <p:cNvSpPr/>
          <p:nvPr/>
        </p:nvSpPr>
        <p:spPr>
          <a:xfrm>
            <a:off x="812800" y="6202759"/>
            <a:ext cx="91567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E0"/>
                </a:solidFill>
                <a:latin typeface="Arial" pitchFamily="34" charset="0"/>
                <a:ea typeface="Arial" pitchFamily="34" charset="-122"/>
                <a:cs typeface="Arial" pitchFamily="34" charset="-120"/>
              </a:rPr>
              <a:t>Khushi Patidar · BCA / Mandsaur University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3F"/>
                </a:solidFill>
                <a:latin typeface="Georgia" pitchFamily="18" charset="0"/>
                <a:ea typeface="Georgia" pitchFamily="18" charset="-122"/>
                <a:cs typeface="Georgia" pitchFamily="18" charset="-120"/>
              </a:rPr>
              <a:t>The problem</a:t>
            </a:r>
            <a:endParaRPr lang="en-US" sz="3200" dirty="0"/>
          </a:p>
        </p:txBody>
      </p:sp>
      <p:sp>
        <p:nvSpPr>
          <p:cNvPr id="3" name="Text 1"/>
          <p:cNvSpPr/>
          <p:nvPr/>
        </p:nvSpPr>
        <p:spPr>
          <a:xfrm>
            <a:off x="812800" y="1534120"/>
            <a:ext cx="10883392"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338"/>
                </a:solidFill>
                <a:latin typeface="Arial" pitchFamily="34" charset="0"/>
                <a:ea typeface="Arial" pitchFamily="34" charset="-122"/>
                <a:cs typeface="Arial" pitchFamily="34" charset="-120"/>
              </a:rPr>
              <a:t>Scam messages reach people on WhatsApp and SMS every day, and many people cannot tell them apart from real ones. Four patterns are very common.</a:t>
            </a:r>
            <a:endParaRPr lang="en-US" sz="1800" dirty="0"/>
          </a:p>
        </p:txBody>
      </p:sp>
      <p:sp>
        <p:nvSpPr>
          <p:cNvPr id="4" name="Shape 2"/>
          <p:cNvSpPr/>
          <p:nvPr/>
        </p:nvSpPr>
        <p:spPr>
          <a:xfrm>
            <a:off x="815975" y="2431256"/>
            <a:ext cx="2482850" cy="1796653"/>
          </a:xfrm>
          <a:prstGeom prst="roundRect">
            <a:avLst>
              <a:gd name="adj" fmla="val 5478"/>
            </a:avLst>
          </a:prstGeom>
          <a:solidFill>
            <a:srgbClr val="FFFFFF"/>
          </a:solidFill>
          <a:ln w="6350">
            <a:solidFill>
              <a:srgbClr val="DDE1EA"/>
            </a:solidFill>
            <a:prstDash val="solid"/>
          </a:ln>
        </p:spPr>
      </p:sp>
      <p:sp>
        <p:nvSpPr>
          <p:cNvPr id="5" name="Text 3"/>
          <p:cNvSpPr/>
          <p:nvPr/>
        </p:nvSpPr>
        <p:spPr>
          <a:xfrm>
            <a:off x="1022350" y="2637631"/>
            <a:ext cx="21322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Fake KYC alerts</a:t>
            </a:r>
            <a:endParaRPr lang="en-US" sz="1800" dirty="0"/>
          </a:p>
        </p:txBody>
      </p:sp>
      <p:sp>
        <p:nvSpPr>
          <p:cNvPr id="6" name="Text 4"/>
          <p:cNvSpPr/>
          <p:nvPr/>
        </p:nvSpPr>
        <p:spPr>
          <a:xfrm>
            <a:off x="1022350" y="3000772"/>
            <a:ext cx="213220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Your account will be blocked, update it now using this link.</a:t>
            </a:r>
            <a:endParaRPr lang="en-US" sz="1400" dirty="0"/>
          </a:p>
        </p:txBody>
      </p:sp>
      <p:sp>
        <p:nvSpPr>
          <p:cNvPr id="7" name="Shape 5"/>
          <p:cNvSpPr/>
          <p:nvPr/>
        </p:nvSpPr>
        <p:spPr>
          <a:xfrm>
            <a:off x="3508375" y="2431256"/>
            <a:ext cx="2482850" cy="1796653"/>
          </a:xfrm>
          <a:prstGeom prst="roundRect">
            <a:avLst>
              <a:gd name="adj" fmla="val 5478"/>
            </a:avLst>
          </a:prstGeom>
          <a:solidFill>
            <a:srgbClr val="FFFFFF"/>
          </a:solidFill>
          <a:ln w="6350">
            <a:solidFill>
              <a:srgbClr val="DDE1EA"/>
            </a:solidFill>
            <a:prstDash val="solid"/>
          </a:ln>
        </p:spPr>
      </p:sp>
      <p:sp>
        <p:nvSpPr>
          <p:cNvPr id="8" name="Text 6"/>
          <p:cNvSpPr/>
          <p:nvPr/>
        </p:nvSpPr>
        <p:spPr>
          <a:xfrm>
            <a:off x="3714750" y="2637631"/>
            <a:ext cx="2132203"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Lottery and prizes</a:t>
            </a:r>
            <a:endParaRPr lang="en-US" sz="1800" dirty="0"/>
          </a:p>
        </p:txBody>
      </p:sp>
      <p:sp>
        <p:nvSpPr>
          <p:cNvPr id="9" name="Text 7"/>
          <p:cNvSpPr/>
          <p:nvPr/>
        </p:nvSpPr>
        <p:spPr>
          <a:xfrm>
            <a:off x="3714750" y="3275013"/>
            <a:ext cx="213220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You have won lakhs, share your OTP to claim the prize.</a:t>
            </a:r>
            <a:endParaRPr lang="en-US" sz="1400" dirty="0"/>
          </a:p>
        </p:txBody>
      </p:sp>
      <p:sp>
        <p:nvSpPr>
          <p:cNvPr id="10" name="Shape 8"/>
          <p:cNvSpPr/>
          <p:nvPr/>
        </p:nvSpPr>
        <p:spPr>
          <a:xfrm>
            <a:off x="6200775" y="2431256"/>
            <a:ext cx="2482850" cy="1796653"/>
          </a:xfrm>
          <a:prstGeom prst="roundRect">
            <a:avLst>
              <a:gd name="adj" fmla="val 5478"/>
            </a:avLst>
          </a:prstGeom>
          <a:solidFill>
            <a:srgbClr val="FFFFFF"/>
          </a:solidFill>
          <a:ln w="6350">
            <a:solidFill>
              <a:srgbClr val="DDE1EA"/>
            </a:solidFill>
            <a:prstDash val="solid"/>
          </a:ln>
        </p:spPr>
      </p:sp>
      <p:sp>
        <p:nvSpPr>
          <p:cNvPr id="11" name="Text 9"/>
          <p:cNvSpPr/>
          <p:nvPr/>
        </p:nvSpPr>
        <p:spPr>
          <a:xfrm>
            <a:off x="6407150" y="2637631"/>
            <a:ext cx="21322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Parcel fees</a:t>
            </a:r>
            <a:endParaRPr lang="en-US" sz="1800" dirty="0"/>
          </a:p>
        </p:txBody>
      </p:sp>
      <p:sp>
        <p:nvSpPr>
          <p:cNvPr id="12" name="Text 10"/>
          <p:cNvSpPr/>
          <p:nvPr/>
        </p:nvSpPr>
        <p:spPr>
          <a:xfrm>
            <a:off x="6407150" y="3000772"/>
            <a:ext cx="213220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Your parcel is held, pay a small fee through this link.</a:t>
            </a:r>
            <a:endParaRPr lang="en-US" sz="1400" dirty="0"/>
          </a:p>
        </p:txBody>
      </p:sp>
      <p:sp>
        <p:nvSpPr>
          <p:cNvPr id="13" name="Shape 11"/>
          <p:cNvSpPr/>
          <p:nvPr/>
        </p:nvSpPr>
        <p:spPr>
          <a:xfrm>
            <a:off x="8893175" y="2431256"/>
            <a:ext cx="2482850" cy="1796653"/>
          </a:xfrm>
          <a:prstGeom prst="roundRect">
            <a:avLst>
              <a:gd name="adj" fmla="val 5478"/>
            </a:avLst>
          </a:prstGeom>
          <a:solidFill>
            <a:srgbClr val="FFFFFF"/>
          </a:solidFill>
          <a:ln w="6350">
            <a:solidFill>
              <a:srgbClr val="DDE1EA"/>
            </a:solidFill>
            <a:prstDash val="solid"/>
          </a:ln>
        </p:spPr>
      </p:sp>
      <p:sp>
        <p:nvSpPr>
          <p:cNvPr id="14" name="Text 12"/>
          <p:cNvSpPr/>
          <p:nvPr/>
        </p:nvSpPr>
        <p:spPr>
          <a:xfrm>
            <a:off x="9099550" y="2637631"/>
            <a:ext cx="21322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Easy-money jobs</a:t>
            </a:r>
            <a:endParaRPr lang="en-US" sz="1800" dirty="0"/>
          </a:p>
        </p:txBody>
      </p:sp>
      <p:sp>
        <p:nvSpPr>
          <p:cNvPr id="15" name="Text 13"/>
          <p:cNvSpPr/>
          <p:nvPr/>
        </p:nvSpPr>
        <p:spPr>
          <a:xfrm>
            <a:off x="9099550" y="3000772"/>
            <a:ext cx="2132203"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Earn thousands from home, but pay a deposit first.</a:t>
            </a:r>
            <a:endParaRPr lang="en-US" sz="14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Scam Message Detector · SDG 16</a:t>
            </a:r>
            <a:endParaRPr lang="en-US" sz="1200" dirty="0"/>
          </a:p>
        </p:txBody>
      </p:sp>
      <p:sp>
        <p:nvSpPr>
          <p:cNvPr id="17" name="Text 15"/>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F5BEA"/>
        </a:solidFill>
      </p:bgPr>
    </p:bg>
    <p:spTree>
      <p:nvGrpSpPr>
        <p:cNvPr id="1" name=""/>
        <p:cNvGrpSpPr/>
        <p:nvPr/>
      </p:nvGrpSpPr>
      <p:grpSpPr>
        <a:xfrm>
          <a:off x="0" y="0"/>
          <a:ext cx="0" cy="0"/>
          <a:chOff x="0" y="0"/>
          <a:chExt cx="0" cy="0"/>
        </a:xfrm>
      </p:grpSpPr>
      <p:sp>
        <p:nvSpPr>
          <p:cNvPr id="2" name="Text 0"/>
          <p:cNvSpPr/>
          <p:nvPr/>
        </p:nvSpPr>
        <p:spPr>
          <a:xfrm>
            <a:off x="812800" y="168542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FFFF"/>
                </a:solidFill>
                <a:latin typeface="Arial" pitchFamily="34" charset="0"/>
                <a:ea typeface="Arial" pitchFamily="34" charset="-122"/>
                <a:cs typeface="Arial" pitchFamily="34" charset="-120"/>
              </a:rPr>
              <a:t>LINK TO SDG 16</a:t>
            </a:r>
            <a:endParaRPr lang="en-US" sz="1400" dirty="0"/>
          </a:p>
        </p:txBody>
      </p:sp>
      <p:sp>
        <p:nvSpPr>
          <p:cNvPr id="3" name="Text 1"/>
          <p:cNvSpPr/>
          <p:nvPr>
            <p:ph type="title"/>
          </p:nvPr>
        </p:nvSpPr>
        <p:spPr>
          <a:xfrm>
            <a:off x="812800" y="216287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FFFFF"/>
                </a:solidFill>
                <a:latin typeface="Georgia" pitchFamily="18" charset="0"/>
                <a:ea typeface="Georgia" pitchFamily="18" charset="-122"/>
                <a:cs typeface="Georgia" pitchFamily="18" charset="-120"/>
              </a:rPr>
              <a:t>Peace, Justice and Strong Institutions</a:t>
            </a:r>
            <a:endParaRPr lang="en-US" sz="4400" dirty="0"/>
          </a:p>
        </p:txBody>
      </p:sp>
      <p:sp>
        <p:nvSpPr>
          <p:cNvPr id="4" name="Text 2"/>
          <p:cNvSpPr/>
          <p:nvPr/>
        </p:nvSpPr>
        <p:spPr>
          <a:xfrm>
            <a:off x="812800" y="3620790"/>
            <a:ext cx="10883392" cy="70088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FFFFF"/>
                </a:solidFill>
                <a:latin typeface="Arial" pitchFamily="34" charset="0"/>
                <a:ea typeface="Arial" pitchFamily="34" charset="-122"/>
                <a:cs typeface="Arial" pitchFamily="34" charset="-120"/>
              </a:rPr>
              <a:t>Fraud and online scams weaken trust in banks and digital services. A tool that helps people recognise a scam before they act supports safer and fairer institutions.</a:t>
            </a:r>
            <a:endParaRPr lang="en-US" sz="1900" dirty="0"/>
          </a:p>
        </p:txBody>
      </p:sp>
      <p:sp>
        <p:nvSpPr>
          <p:cNvPr id="5" name="Text 3"/>
          <p:cNvSpPr/>
          <p:nvPr/>
        </p:nvSpPr>
        <p:spPr>
          <a:xfrm>
            <a:off x="812800" y="4524871"/>
            <a:ext cx="2870200" cy="444500"/>
          </a:xfrm>
          <a:prstGeom prst="roundRect">
            <a:avLst>
              <a:gd name="adj" fmla="val 50000"/>
            </a:avLst>
          </a:prstGeom>
          <a:solidFill>
            <a:srgbClr val="FFFFFF"/>
          </a:solidFill>
          <a:ln/>
        </p:spPr>
        <p:txBody>
          <a:bodyPr wrap="none" lIns="0" tIns="0" rIns="0" bIns="0" rtlCol="0" anchor="ctr">
            <a:normAutofit/>
          </a:bodyPr>
          <a:lstStyle/>
          <a:p>
            <a:pPr algn="ctr" indent="0" marL="0">
              <a:lnSpc>
                <a:spcPts val="2100"/>
              </a:lnSpc>
              <a:buNone/>
            </a:pPr>
            <a:r>
              <a:rPr lang="en-US" sz="1500" b="1" dirty="0">
                <a:solidFill>
                  <a:srgbClr val="12203F"/>
                </a:solidFill>
                <a:latin typeface="Arial" pitchFamily="34" charset="0"/>
                <a:ea typeface="Arial" pitchFamily="34" charset="-122"/>
                <a:cs typeface="Arial" pitchFamily="34" charset="-120"/>
              </a:rPr>
              <a:t>Protects citizens from fraud</a:t>
            </a:r>
            <a:endParaRPr lang="en-US" sz="1500" dirty="0"/>
          </a:p>
        </p:txBody>
      </p:sp>
      <p:sp>
        <p:nvSpPr>
          <p:cNvPr id="6" name="Text 4"/>
          <p:cNvSpPr/>
          <p:nvPr/>
        </p:nvSpPr>
        <p:spPr>
          <a:xfrm>
            <a:off x="3810000" y="4524871"/>
            <a:ext cx="3048000" cy="444500"/>
          </a:xfrm>
          <a:prstGeom prst="roundRect">
            <a:avLst>
              <a:gd name="adj" fmla="val 50000"/>
            </a:avLst>
          </a:prstGeom>
          <a:solidFill>
            <a:srgbClr val="FFFFFF"/>
          </a:solidFill>
          <a:ln/>
        </p:spPr>
        <p:txBody>
          <a:bodyPr wrap="none" lIns="0" tIns="0" rIns="0" bIns="0" rtlCol="0" anchor="ctr">
            <a:normAutofit/>
          </a:bodyPr>
          <a:lstStyle/>
          <a:p>
            <a:pPr algn="ctr" indent="0" marL="0">
              <a:lnSpc>
                <a:spcPts val="2100"/>
              </a:lnSpc>
              <a:buNone/>
            </a:pPr>
            <a:r>
              <a:rPr lang="en-US" sz="1500" b="1" dirty="0">
                <a:solidFill>
                  <a:srgbClr val="12203F"/>
                </a:solidFill>
                <a:latin typeface="Arial" pitchFamily="34" charset="0"/>
                <a:ea typeface="Arial" pitchFamily="34" charset="-122"/>
                <a:cs typeface="Arial" pitchFamily="34" charset="-120"/>
              </a:rPr>
              <a:t>Builds trust in digital services</a:t>
            </a:r>
            <a:endParaRPr lang="en-US" sz="1500" dirty="0"/>
          </a:p>
        </p:txBody>
      </p:sp>
      <p:sp>
        <p:nvSpPr>
          <p:cNvPr id="7" name="Text 5"/>
          <p:cNvSpPr/>
          <p:nvPr/>
        </p:nvSpPr>
        <p:spPr>
          <a:xfrm>
            <a:off x="6985000" y="4524871"/>
            <a:ext cx="2628900" cy="444500"/>
          </a:xfrm>
          <a:prstGeom prst="roundRect">
            <a:avLst>
              <a:gd name="adj" fmla="val 50000"/>
            </a:avLst>
          </a:prstGeom>
          <a:solidFill>
            <a:srgbClr val="FFFFFF"/>
          </a:solidFill>
          <a:ln/>
        </p:spPr>
        <p:txBody>
          <a:bodyPr wrap="none" lIns="0" tIns="0" rIns="0" bIns="0" rtlCol="0" anchor="ctr">
            <a:normAutofit/>
          </a:bodyPr>
          <a:lstStyle/>
          <a:p>
            <a:pPr algn="ctr" indent="0" marL="0">
              <a:lnSpc>
                <a:spcPts val="2100"/>
              </a:lnSpc>
              <a:buNone/>
            </a:pPr>
            <a:r>
              <a:rPr lang="en-US" sz="1500" b="1" dirty="0">
                <a:solidFill>
                  <a:srgbClr val="12203F"/>
                </a:solidFill>
                <a:latin typeface="Arial" pitchFamily="34" charset="0"/>
                <a:ea typeface="Arial" pitchFamily="34" charset="-122"/>
                <a:cs typeface="Arial" pitchFamily="34" charset="-120"/>
              </a:rPr>
              <a:t>Works in local languages</a:t>
            </a:r>
            <a:endParaRPr lang="en-US" sz="1500" dirty="0"/>
          </a:p>
        </p:txBody>
      </p:sp>
      <p:sp>
        <p:nvSpPr>
          <p:cNvPr id="8"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Scam Message Detector · SDG 16</a:t>
            </a:r>
            <a:endParaRPr lang="en-US" sz="1200" dirty="0"/>
          </a:p>
        </p:txBody>
      </p:sp>
      <p:sp>
        <p:nvSpPr>
          <p:cNvPr id="9" name="Text 7"/>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3F"/>
                </a:solidFill>
                <a:latin typeface="Georgia" pitchFamily="18" charset="0"/>
                <a:ea typeface="Georgia" pitchFamily="18" charset="-122"/>
                <a:cs typeface="Georgia" pitchFamily="18" charset="-120"/>
              </a:rPr>
              <a:t>Data</a:t>
            </a:r>
            <a:endParaRPr lang="en-US" sz="3200" dirty="0"/>
          </a:p>
        </p:txBody>
      </p:sp>
      <p:sp>
        <p:nvSpPr>
          <p:cNvPr id="3" name="Shape 1"/>
          <p:cNvSpPr/>
          <p:nvPr/>
        </p:nvSpPr>
        <p:spPr>
          <a:xfrm>
            <a:off x="815975" y="1537295"/>
            <a:ext cx="5175250" cy="2297113"/>
          </a:xfrm>
          <a:prstGeom prst="roundRect">
            <a:avLst>
              <a:gd name="adj" fmla="val 4285"/>
            </a:avLst>
          </a:prstGeom>
          <a:solidFill>
            <a:srgbClr val="FFFFFF"/>
          </a:solidFill>
          <a:ln w="6350">
            <a:solidFill>
              <a:srgbClr val="DDE1EA"/>
            </a:solidFill>
            <a:prstDash val="solid"/>
          </a:ln>
        </p:spPr>
      </p:sp>
      <p:sp>
        <p:nvSpPr>
          <p:cNvPr id="4" name="Text 2"/>
          <p:cNvSpPr/>
          <p:nvPr/>
        </p:nvSpPr>
        <p:spPr>
          <a:xfrm>
            <a:off x="1022350" y="174367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Arial" pitchFamily="34" charset="0"/>
                <a:ea typeface="Arial" pitchFamily="34" charset="-122"/>
                <a:cs typeface="Arial" pitchFamily="34" charset="-120"/>
              </a:rPr>
              <a:t>ENGLISH</a:t>
            </a:r>
            <a:endParaRPr lang="en-US" sz="1200" dirty="0"/>
          </a:p>
        </p:txBody>
      </p:sp>
      <p:sp>
        <p:nvSpPr>
          <p:cNvPr id="5" name="Text 3"/>
          <p:cNvSpPr/>
          <p:nvPr/>
        </p:nvSpPr>
        <p:spPr>
          <a:xfrm>
            <a:off x="1022350" y="203319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03F"/>
                </a:solidFill>
                <a:latin typeface="Georgia" pitchFamily="18" charset="0"/>
                <a:ea typeface="Georgia" pitchFamily="18" charset="-122"/>
                <a:cs typeface="Georgia" pitchFamily="18" charset="-120"/>
              </a:rPr>
              <a:t>SMS Spam Collection</a:t>
            </a:r>
            <a:endParaRPr lang="en-US" sz="1800" dirty="0"/>
          </a:p>
        </p:txBody>
      </p:sp>
      <p:sp>
        <p:nvSpPr>
          <p:cNvPr id="6" name="Text 4"/>
          <p:cNvSpPr/>
          <p:nvPr/>
        </p:nvSpPr>
        <p:spPr>
          <a:xfrm>
            <a:off x="1022350" y="2383631"/>
            <a:ext cx="4905375"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F5BEA"/>
                </a:solidFill>
                <a:latin typeface="Arial" pitchFamily="34" charset="0"/>
                <a:ea typeface="Arial" pitchFamily="34" charset="-122"/>
                <a:cs typeface="Arial" pitchFamily="34" charset="-120"/>
              </a:rPr>
              <a:t>5,572</a:t>
            </a:r>
            <a:endParaRPr lang="en-US" sz="4800" dirty="0"/>
          </a:p>
        </p:txBody>
      </p:sp>
      <p:sp>
        <p:nvSpPr>
          <p:cNvPr id="7" name="Text 5"/>
          <p:cNvSpPr/>
          <p:nvPr/>
        </p:nvSpPr>
        <p:spPr>
          <a:xfrm>
            <a:off x="1022350" y="3130352"/>
            <a:ext cx="490537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messages: 4,825 genuine and 747 spam, from Kaggle</a:t>
            </a:r>
            <a:endParaRPr lang="en-US" sz="1400" dirty="0"/>
          </a:p>
        </p:txBody>
      </p:sp>
      <p:sp>
        <p:nvSpPr>
          <p:cNvPr id="8" name="Shape 6"/>
          <p:cNvSpPr/>
          <p:nvPr/>
        </p:nvSpPr>
        <p:spPr>
          <a:xfrm>
            <a:off x="6200775" y="1537295"/>
            <a:ext cx="5175250" cy="2297113"/>
          </a:xfrm>
          <a:prstGeom prst="roundRect">
            <a:avLst>
              <a:gd name="adj" fmla="val 4285"/>
            </a:avLst>
          </a:prstGeom>
          <a:solidFill>
            <a:srgbClr val="FFFFFF"/>
          </a:solidFill>
          <a:ln w="6350">
            <a:solidFill>
              <a:srgbClr val="DDE1EA"/>
            </a:solidFill>
            <a:prstDash val="solid"/>
          </a:ln>
        </p:spPr>
      </p:sp>
      <p:sp>
        <p:nvSpPr>
          <p:cNvPr id="9" name="Text 7"/>
          <p:cNvSpPr/>
          <p:nvPr/>
        </p:nvSpPr>
        <p:spPr>
          <a:xfrm>
            <a:off x="6407150" y="1743670"/>
            <a:ext cx="49053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A"/>
                </a:solidFill>
                <a:latin typeface="Arial" pitchFamily="34" charset="0"/>
                <a:ea typeface="Arial" pitchFamily="34" charset="-122"/>
                <a:cs typeface="Arial" pitchFamily="34" charset="-120"/>
              </a:rPr>
              <a:t>HINDI AND HINGLISH</a:t>
            </a:r>
            <a:endParaRPr lang="en-US" sz="1200" dirty="0"/>
          </a:p>
        </p:txBody>
      </p:sp>
      <p:sp>
        <p:nvSpPr>
          <p:cNvPr id="10" name="Text 8"/>
          <p:cNvSpPr/>
          <p:nvPr/>
        </p:nvSpPr>
        <p:spPr>
          <a:xfrm>
            <a:off x="6407150" y="203319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03F"/>
                </a:solidFill>
                <a:latin typeface="Georgia" pitchFamily="18" charset="0"/>
                <a:ea typeface="Georgia" pitchFamily="18" charset="-122"/>
                <a:cs typeface="Georgia" pitchFamily="18" charset="-120"/>
              </a:rPr>
              <a:t>Written by us</a:t>
            </a:r>
            <a:endParaRPr lang="en-US" sz="1800" dirty="0"/>
          </a:p>
        </p:txBody>
      </p:sp>
      <p:sp>
        <p:nvSpPr>
          <p:cNvPr id="11" name="Text 9"/>
          <p:cNvSpPr/>
          <p:nvPr/>
        </p:nvSpPr>
        <p:spPr>
          <a:xfrm>
            <a:off x="6407150" y="2383631"/>
            <a:ext cx="4905375"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F5BEA"/>
                </a:solidFill>
                <a:latin typeface="Arial" pitchFamily="34" charset="0"/>
                <a:ea typeface="Arial" pitchFamily="34" charset="-122"/>
                <a:cs typeface="Arial" pitchFamily="34" charset="-120"/>
              </a:rPr>
              <a:t>56</a:t>
            </a:r>
            <a:endParaRPr lang="en-US" sz="4800" dirty="0"/>
          </a:p>
        </p:txBody>
      </p:sp>
      <p:sp>
        <p:nvSpPr>
          <p:cNvPr id="12" name="Text 10"/>
          <p:cNvSpPr/>
          <p:nvPr/>
        </p:nvSpPr>
        <p:spPr>
          <a:xfrm>
            <a:off x="6407150" y="3130352"/>
            <a:ext cx="490537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messages: 30 scam and 26 genuine, 20 of them in Devanagari script</a:t>
            </a:r>
            <a:endParaRPr lang="en-US" sz="1400" dirty="0"/>
          </a:p>
        </p:txBody>
      </p:sp>
      <p:sp>
        <p:nvSpPr>
          <p:cNvPr id="13" name="Text 11"/>
          <p:cNvSpPr/>
          <p:nvPr/>
        </p:nvSpPr>
        <p:spPr>
          <a:xfrm>
            <a:off x="812800" y="4091583"/>
            <a:ext cx="10566400" cy="690860"/>
          </a:xfrm>
          <a:prstGeom prst="roundRect">
            <a:avLst>
              <a:gd name="adj" fmla="val 14706"/>
            </a:avLst>
          </a:prstGeom>
          <a:solidFill>
            <a:srgbClr val="12203F"/>
          </a:solidFill>
          <a:ln/>
        </p:spPr>
        <p:txBody>
          <a:bodyPr wrap="square" lIns="224242" tIns="173442" rIns="0" bIns="148042" rtlCol="0" anchor="t">
            <a:normAutofit/>
          </a:bodyPr>
          <a:lstStyle/>
          <a:p>
            <a:pPr algn="l" indent="0" marL="0">
              <a:lnSpc>
                <a:spcPts val="2240"/>
              </a:lnSpc>
              <a:buNone/>
            </a:pPr>
            <a:r>
              <a:rPr lang="en-US" sz="1600" dirty="0">
                <a:solidFill>
                  <a:srgbClr val="F7F6F2"/>
                </a:solidFill>
                <a:latin typeface="Arial" pitchFamily="34" charset="0"/>
                <a:ea typeface="Arial" pitchFamily="34" charset="-122"/>
                <a:cs typeface="Arial" pitchFamily="34" charset="-120"/>
              </a:rPr>
              <a:t>Total 5,628 messages. Only 14% are scams, so the model gives scam examples extra weight while learning.</a:t>
            </a:r>
            <a:endParaRPr lang="en-US" sz="1600" dirty="0"/>
          </a:p>
        </p:txBody>
      </p:sp>
      <p:sp>
        <p:nvSpPr>
          <p:cNvPr id="14" name="Text 1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Scam Message Detector · SDG 16</a:t>
            </a:r>
            <a:endParaRPr lang="en-US" sz="1200" dirty="0"/>
          </a:p>
        </p:txBody>
      </p:sp>
      <p:sp>
        <p:nvSpPr>
          <p:cNvPr id="15" name="Text 13"/>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03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7F6F2"/>
                </a:solidFill>
                <a:latin typeface="Georgia" pitchFamily="18" charset="0"/>
                <a:ea typeface="Georgia" pitchFamily="18" charset="-122"/>
                <a:cs typeface="Georgia" pitchFamily="18" charset="-120"/>
              </a:rPr>
              <a:t>Method</a:t>
            </a:r>
            <a:endParaRPr lang="en-US" sz="3200" dirty="0"/>
          </a:p>
        </p:txBody>
      </p:sp>
      <p:sp>
        <p:nvSpPr>
          <p:cNvPr id="3" name="Shape 1"/>
          <p:cNvSpPr/>
          <p:nvPr/>
        </p:nvSpPr>
        <p:spPr>
          <a:xfrm>
            <a:off x="815975" y="1872456"/>
            <a:ext cx="1659830" cy="1133971"/>
          </a:xfrm>
          <a:prstGeom prst="roundRect">
            <a:avLst>
              <a:gd name="adj" fmla="val 8680"/>
            </a:avLst>
          </a:prstGeom>
          <a:solidFill>
            <a:srgbClr val="1F3263"/>
          </a:solidFill>
          <a:ln w="6350">
            <a:solidFill>
              <a:srgbClr val="3A4D85"/>
            </a:solidFill>
            <a:prstDash val="solid"/>
          </a:ln>
        </p:spPr>
      </p:sp>
      <p:sp>
        <p:nvSpPr>
          <p:cNvPr id="4" name="Text 2"/>
          <p:cNvSpPr/>
          <p:nvPr/>
        </p:nvSpPr>
        <p:spPr>
          <a:xfrm>
            <a:off x="971550" y="2028031"/>
            <a:ext cx="13994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772E"/>
                </a:solidFill>
                <a:latin typeface="Arial" pitchFamily="34" charset="0"/>
                <a:ea typeface="Arial" pitchFamily="34" charset="-122"/>
                <a:cs typeface="Arial" pitchFamily="34" charset="-120"/>
              </a:rPr>
              <a:t>Step 1</a:t>
            </a:r>
            <a:endParaRPr lang="en-US" sz="1200" dirty="0"/>
          </a:p>
        </p:txBody>
      </p:sp>
      <p:sp>
        <p:nvSpPr>
          <p:cNvPr id="5" name="Text 3"/>
          <p:cNvSpPr/>
          <p:nvPr/>
        </p:nvSpPr>
        <p:spPr>
          <a:xfrm>
            <a:off x="971550" y="2317552"/>
            <a:ext cx="13994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Georgia" pitchFamily="18" charset="0"/>
                <a:ea typeface="Georgia" pitchFamily="18" charset="-122"/>
                <a:cs typeface="Georgia" pitchFamily="18" charset="-120"/>
              </a:rPr>
              <a:t>Message</a:t>
            </a:r>
            <a:endParaRPr lang="en-US" sz="1600" dirty="0"/>
          </a:p>
        </p:txBody>
      </p:sp>
      <p:sp>
        <p:nvSpPr>
          <p:cNvPr id="6" name="Text 4"/>
          <p:cNvSpPr/>
          <p:nvPr/>
        </p:nvSpPr>
        <p:spPr>
          <a:xfrm>
            <a:off x="971550" y="2637532"/>
            <a:ext cx="1399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Pasted by the user</a:t>
            </a:r>
            <a:endParaRPr lang="en-US" sz="1200" dirty="0"/>
          </a:p>
        </p:txBody>
      </p:sp>
      <p:pic>
        <p:nvPicPr>
          <p:cNvPr id="7" name="Image 0" descr="arrow-right">    </p:cNvPr>
          <p:cNvPicPr>
            <a:picLocks noChangeAspect="1"/>
          </p:cNvPicPr>
          <p:nvPr/>
        </p:nvPicPr>
        <p:blipFill>
          <a:blip r:embed="rId1"/>
          <a:srcRect l="0" r="0" t="0" b="0"/>
          <a:stretch/>
        </p:blipFill>
        <p:spPr>
          <a:xfrm>
            <a:off x="2580580" y="2350591"/>
            <a:ext cx="355600" cy="177800"/>
          </a:xfrm>
          <a:prstGeom prst="rect">
            <a:avLst/>
          </a:prstGeom>
        </p:spPr>
      </p:pic>
      <p:sp>
        <p:nvSpPr>
          <p:cNvPr id="8" name="Shape 5"/>
          <p:cNvSpPr/>
          <p:nvPr/>
        </p:nvSpPr>
        <p:spPr>
          <a:xfrm>
            <a:off x="3040955" y="1872456"/>
            <a:ext cx="1659930" cy="1133971"/>
          </a:xfrm>
          <a:prstGeom prst="roundRect">
            <a:avLst>
              <a:gd name="adj" fmla="val 8680"/>
            </a:avLst>
          </a:prstGeom>
          <a:solidFill>
            <a:srgbClr val="1F3263"/>
          </a:solidFill>
          <a:ln w="6350">
            <a:solidFill>
              <a:srgbClr val="3A4D85"/>
            </a:solidFill>
            <a:prstDash val="solid"/>
          </a:ln>
        </p:spPr>
      </p:sp>
      <p:sp>
        <p:nvSpPr>
          <p:cNvPr id="9" name="Text 6"/>
          <p:cNvSpPr/>
          <p:nvPr/>
        </p:nvSpPr>
        <p:spPr>
          <a:xfrm>
            <a:off x="3196530" y="2028031"/>
            <a:ext cx="1399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772E"/>
                </a:solidFill>
                <a:latin typeface="Arial" pitchFamily="34" charset="0"/>
                <a:ea typeface="Arial" pitchFamily="34" charset="-122"/>
                <a:cs typeface="Arial" pitchFamily="34" charset="-120"/>
              </a:rPr>
              <a:t>Step 2</a:t>
            </a:r>
            <a:endParaRPr lang="en-US" sz="1200" dirty="0"/>
          </a:p>
        </p:txBody>
      </p:sp>
      <p:sp>
        <p:nvSpPr>
          <p:cNvPr id="10" name="Text 7"/>
          <p:cNvSpPr/>
          <p:nvPr/>
        </p:nvSpPr>
        <p:spPr>
          <a:xfrm>
            <a:off x="3196530" y="2317552"/>
            <a:ext cx="13995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Georgia" pitchFamily="18" charset="0"/>
                <a:ea typeface="Georgia" pitchFamily="18" charset="-122"/>
                <a:cs typeface="Georgia" pitchFamily="18" charset="-120"/>
              </a:rPr>
              <a:t>Clean</a:t>
            </a:r>
            <a:endParaRPr lang="en-US" sz="1600" dirty="0"/>
          </a:p>
        </p:txBody>
      </p:sp>
      <p:sp>
        <p:nvSpPr>
          <p:cNvPr id="11" name="Text 8"/>
          <p:cNvSpPr/>
          <p:nvPr/>
        </p:nvSpPr>
        <p:spPr>
          <a:xfrm>
            <a:off x="3196530" y="2637532"/>
            <a:ext cx="1399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Lowercase the text</a:t>
            </a:r>
            <a:endParaRPr lang="en-US" sz="1200" dirty="0"/>
          </a:p>
        </p:txBody>
      </p:sp>
      <p:pic>
        <p:nvPicPr>
          <p:cNvPr id="12" name="Image 1" descr="arrow-right">    </p:cNvPr>
          <p:cNvPicPr>
            <a:picLocks noChangeAspect="1"/>
          </p:cNvPicPr>
          <p:nvPr/>
        </p:nvPicPr>
        <p:blipFill>
          <a:blip r:embed="rId2"/>
          <a:srcRect l="0" r="0" t="0" b="0"/>
          <a:stretch/>
        </p:blipFill>
        <p:spPr>
          <a:xfrm>
            <a:off x="4805660" y="2350591"/>
            <a:ext cx="355600" cy="177800"/>
          </a:xfrm>
          <a:prstGeom prst="rect">
            <a:avLst/>
          </a:prstGeom>
        </p:spPr>
      </p:pic>
      <p:sp>
        <p:nvSpPr>
          <p:cNvPr id="13" name="Shape 9"/>
          <p:cNvSpPr/>
          <p:nvPr/>
        </p:nvSpPr>
        <p:spPr>
          <a:xfrm>
            <a:off x="5266035" y="1659136"/>
            <a:ext cx="1659830" cy="1560612"/>
          </a:xfrm>
          <a:prstGeom prst="roundRect">
            <a:avLst>
              <a:gd name="adj" fmla="val 6307"/>
            </a:avLst>
          </a:prstGeom>
          <a:solidFill>
            <a:srgbClr val="1F3263"/>
          </a:solidFill>
          <a:ln w="6350">
            <a:solidFill>
              <a:srgbClr val="3A4D85"/>
            </a:solidFill>
            <a:prstDash val="solid"/>
          </a:ln>
        </p:spPr>
      </p:sp>
      <p:sp>
        <p:nvSpPr>
          <p:cNvPr id="14" name="Text 10"/>
          <p:cNvSpPr/>
          <p:nvPr/>
        </p:nvSpPr>
        <p:spPr>
          <a:xfrm>
            <a:off x="5421610" y="1814711"/>
            <a:ext cx="13994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772E"/>
                </a:solidFill>
                <a:latin typeface="Arial" pitchFamily="34" charset="0"/>
                <a:ea typeface="Arial" pitchFamily="34" charset="-122"/>
                <a:cs typeface="Arial" pitchFamily="34" charset="-120"/>
              </a:rPr>
              <a:t>Step 3</a:t>
            </a:r>
            <a:endParaRPr lang="en-US" sz="1200" dirty="0"/>
          </a:p>
        </p:txBody>
      </p:sp>
      <p:sp>
        <p:nvSpPr>
          <p:cNvPr id="15" name="Text 11"/>
          <p:cNvSpPr/>
          <p:nvPr/>
        </p:nvSpPr>
        <p:spPr>
          <a:xfrm>
            <a:off x="5421610" y="2104231"/>
            <a:ext cx="13994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Georgia" pitchFamily="18" charset="0"/>
                <a:ea typeface="Georgia" pitchFamily="18" charset="-122"/>
                <a:cs typeface="Georgia" pitchFamily="18" charset="-120"/>
              </a:rPr>
              <a:t>TF-IDF</a:t>
            </a:r>
            <a:endParaRPr lang="en-US" sz="1600" dirty="0"/>
          </a:p>
        </p:txBody>
      </p:sp>
      <p:sp>
        <p:nvSpPr>
          <p:cNvPr id="16" name="Text 12"/>
          <p:cNvSpPr/>
          <p:nvPr/>
        </p:nvSpPr>
        <p:spPr>
          <a:xfrm>
            <a:off x="5421610" y="2424212"/>
            <a:ext cx="13994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Turns words and word pairs into numbers</a:t>
            </a:r>
            <a:endParaRPr lang="en-US" sz="1200" dirty="0"/>
          </a:p>
        </p:txBody>
      </p:sp>
      <p:pic>
        <p:nvPicPr>
          <p:cNvPr id="17" name="Image 2" descr="arrow-right">    </p:cNvPr>
          <p:cNvPicPr>
            <a:picLocks noChangeAspect="1"/>
          </p:cNvPicPr>
          <p:nvPr/>
        </p:nvPicPr>
        <p:blipFill>
          <a:blip r:embed="rId3"/>
          <a:srcRect l="0" r="0" t="0" b="0"/>
          <a:stretch/>
        </p:blipFill>
        <p:spPr>
          <a:xfrm>
            <a:off x="7030641" y="2350591"/>
            <a:ext cx="355600" cy="177800"/>
          </a:xfrm>
          <a:prstGeom prst="rect">
            <a:avLst/>
          </a:prstGeom>
        </p:spPr>
      </p:pic>
      <p:sp>
        <p:nvSpPr>
          <p:cNvPr id="18" name="Shape 13"/>
          <p:cNvSpPr/>
          <p:nvPr/>
        </p:nvSpPr>
        <p:spPr>
          <a:xfrm>
            <a:off x="7491016" y="1537295"/>
            <a:ext cx="1659930" cy="1804392"/>
          </a:xfrm>
          <a:prstGeom prst="roundRect">
            <a:avLst>
              <a:gd name="adj" fmla="val 5929"/>
            </a:avLst>
          </a:prstGeom>
          <a:solidFill>
            <a:srgbClr val="1F3263"/>
          </a:solidFill>
          <a:ln w="6350">
            <a:solidFill>
              <a:srgbClr val="3A4D85"/>
            </a:solidFill>
            <a:prstDash val="solid"/>
          </a:ln>
        </p:spPr>
      </p:sp>
      <p:sp>
        <p:nvSpPr>
          <p:cNvPr id="19" name="Text 14"/>
          <p:cNvSpPr/>
          <p:nvPr/>
        </p:nvSpPr>
        <p:spPr>
          <a:xfrm>
            <a:off x="7646591" y="1692870"/>
            <a:ext cx="1399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772E"/>
                </a:solidFill>
                <a:latin typeface="Arial" pitchFamily="34" charset="0"/>
                <a:ea typeface="Arial" pitchFamily="34" charset="-122"/>
                <a:cs typeface="Arial" pitchFamily="34" charset="-120"/>
              </a:rPr>
              <a:t>Step 4</a:t>
            </a:r>
            <a:endParaRPr lang="en-US" sz="1200" dirty="0"/>
          </a:p>
        </p:txBody>
      </p:sp>
      <p:sp>
        <p:nvSpPr>
          <p:cNvPr id="20" name="Text 15"/>
          <p:cNvSpPr/>
          <p:nvPr/>
        </p:nvSpPr>
        <p:spPr>
          <a:xfrm>
            <a:off x="7646591" y="1982391"/>
            <a:ext cx="139958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Georgia" pitchFamily="18" charset="0"/>
                <a:ea typeface="Georgia" pitchFamily="18" charset="-122"/>
                <a:cs typeface="Georgia" pitchFamily="18" charset="-120"/>
              </a:rPr>
              <a:t>Logistic Regression</a:t>
            </a:r>
            <a:endParaRPr lang="en-US" sz="1600" dirty="0"/>
          </a:p>
        </p:txBody>
      </p:sp>
      <p:sp>
        <p:nvSpPr>
          <p:cNvPr id="21" name="Text 16"/>
          <p:cNvSpPr/>
          <p:nvPr/>
        </p:nvSpPr>
        <p:spPr>
          <a:xfrm>
            <a:off x="7646591" y="2546152"/>
            <a:ext cx="13995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Learns which patterns mean scam</a:t>
            </a:r>
            <a:endParaRPr lang="en-US" sz="1200" dirty="0"/>
          </a:p>
        </p:txBody>
      </p:sp>
      <p:pic>
        <p:nvPicPr>
          <p:cNvPr id="22" name="Image 3" descr="arrow-right">    </p:cNvPr>
          <p:cNvPicPr>
            <a:picLocks noChangeAspect="1"/>
          </p:cNvPicPr>
          <p:nvPr/>
        </p:nvPicPr>
        <p:blipFill>
          <a:blip r:embed="rId4"/>
          <a:srcRect l="0" r="0" t="0" b="0"/>
          <a:stretch/>
        </p:blipFill>
        <p:spPr>
          <a:xfrm>
            <a:off x="9255720" y="2350591"/>
            <a:ext cx="355600" cy="177800"/>
          </a:xfrm>
          <a:prstGeom prst="rect">
            <a:avLst/>
          </a:prstGeom>
        </p:spPr>
      </p:pic>
      <p:sp>
        <p:nvSpPr>
          <p:cNvPr id="23" name="Shape 17"/>
          <p:cNvSpPr/>
          <p:nvPr/>
        </p:nvSpPr>
        <p:spPr>
          <a:xfrm>
            <a:off x="9716095" y="1765796"/>
            <a:ext cx="1659930" cy="1347291"/>
          </a:xfrm>
          <a:prstGeom prst="roundRect">
            <a:avLst>
              <a:gd name="adj" fmla="val 7305"/>
            </a:avLst>
          </a:prstGeom>
          <a:solidFill>
            <a:srgbClr val="1F3263"/>
          </a:solidFill>
          <a:ln w="6350">
            <a:solidFill>
              <a:srgbClr val="3A4D85"/>
            </a:solidFill>
            <a:prstDash val="solid"/>
          </a:ln>
        </p:spPr>
      </p:sp>
      <p:sp>
        <p:nvSpPr>
          <p:cNvPr id="24" name="Text 18"/>
          <p:cNvSpPr/>
          <p:nvPr/>
        </p:nvSpPr>
        <p:spPr>
          <a:xfrm>
            <a:off x="9871670" y="1921371"/>
            <a:ext cx="1399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772E"/>
                </a:solidFill>
                <a:latin typeface="Arial" pitchFamily="34" charset="0"/>
                <a:ea typeface="Arial" pitchFamily="34" charset="-122"/>
                <a:cs typeface="Arial" pitchFamily="34" charset="-120"/>
              </a:rPr>
              <a:t>Step 5</a:t>
            </a:r>
            <a:endParaRPr lang="en-US" sz="1200" dirty="0"/>
          </a:p>
        </p:txBody>
      </p:sp>
      <p:sp>
        <p:nvSpPr>
          <p:cNvPr id="25" name="Text 19"/>
          <p:cNvSpPr/>
          <p:nvPr/>
        </p:nvSpPr>
        <p:spPr>
          <a:xfrm>
            <a:off x="9871670" y="2210891"/>
            <a:ext cx="13995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Georgia" pitchFamily="18" charset="0"/>
                <a:ea typeface="Georgia" pitchFamily="18" charset="-122"/>
                <a:cs typeface="Georgia" pitchFamily="18" charset="-120"/>
              </a:rPr>
              <a:t>Verdict</a:t>
            </a:r>
            <a:endParaRPr lang="en-US" sz="1600" dirty="0"/>
          </a:p>
        </p:txBody>
      </p:sp>
      <p:sp>
        <p:nvSpPr>
          <p:cNvPr id="26" name="Text 20"/>
          <p:cNvSpPr/>
          <p:nvPr/>
        </p:nvSpPr>
        <p:spPr>
          <a:xfrm>
            <a:off x="9871670" y="2530872"/>
            <a:ext cx="13995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Scam or genuine, with a probability</a:t>
            </a:r>
            <a:endParaRPr lang="en-US" sz="1200" dirty="0"/>
          </a:p>
        </p:txBody>
      </p:sp>
      <p:sp>
        <p:nvSpPr>
          <p:cNvPr id="27" name="Text 21"/>
          <p:cNvSpPr/>
          <p:nvPr/>
        </p:nvSpPr>
        <p:spPr>
          <a:xfrm>
            <a:off x="812800" y="3598863"/>
            <a:ext cx="3420467" cy="802481"/>
          </a:xfrm>
          <a:prstGeom prst="roundRect">
            <a:avLst>
              <a:gd name="adj" fmla="val 12661"/>
            </a:avLst>
          </a:prstGeom>
          <a:solidFill>
            <a:srgbClr val="1A2B52"/>
          </a:solidFill>
          <a:ln/>
        </p:spPr>
        <p:txBody>
          <a:bodyPr wrap="square" lIns="148042" tIns="122642" rIns="56096" bIns="97242"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TF-IDF gives more weight to distinctive words such as OTP, KYC and lottery.</a:t>
            </a:r>
            <a:endParaRPr lang="en-US" sz="1400" dirty="0"/>
          </a:p>
        </p:txBody>
      </p:sp>
      <p:sp>
        <p:nvSpPr>
          <p:cNvPr id="28" name="Text 22"/>
          <p:cNvSpPr/>
          <p:nvPr/>
        </p:nvSpPr>
        <p:spPr>
          <a:xfrm>
            <a:off x="4385667" y="3598863"/>
            <a:ext cx="3420566" cy="802481"/>
          </a:xfrm>
          <a:prstGeom prst="roundRect">
            <a:avLst>
              <a:gd name="adj" fmla="val 12661"/>
            </a:avLst>
          </a:prstGeom>
          <a:solidFill>
            <a:srgbClr val="1A2B52"/>
          </a:solidFill>
          <a:ln/>
        </p:spPr>
        <p:txBody>
          <a:bodyPr wrap="square" lIns="148042" tIns="122642" rIns="56093" bIns="97242"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Logistic Regression is fast, needs no GPU and gives a probability.</a:t>
            </a:r>
            <a:endParaRPr lang="en-US" sz="1400" dirty="0"/>
          </a:p>
        </p:txBody>
      </p:sp>
      <p:sp>
        <p:nvSpPr>
          <p:cNvPr id="29" name="Text 23"/>
          <p:cNvSpPr/>
          <p:nvPr/>
        </p:nvSpPr>
        <p:spPr>
          <a:xfrm>
            <a:off x="7958634" y="3598863"/>
            <a:ext cx="3420566" cy="802481"/>
          </a:xfrm>
          <a:prstGeom prst="roundRect">
            <a:avLst>
              <a:gd name="adj" fmla="val 12661"/>
            </a:avLst>
          </a:prstGeom>
          <a:solidFill>
            <a:srgbClr val="1A2B52"/>
          </a:solidFill>
          <a:ln/>
        </p:spPr>
        <p:txBody>
          <a:bodyPr wrap="square" lIns="148042" tIns="122642" rIns="56093" bIns="97242"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A custom tokenizer keeps Devanagari words whole instead of splitting them.</a:t>
            </a:r>
            <a:endParaRPr lang="en-US" sz="1400" dirty="0"/>
          </a:p>
        </p:txBody>
      </p:sp>
      <p:sp>
        <p:nvSpPr>
          <p:cNvPr id="30" name="Text 2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Scam Message Detector · SDG 16</a:t>
            </a:r>
            <a:endParaRPr lang="en-US" sz="1200" dirty="0"/>
          </a:p>
        </p:txBody>
      </p:sp>
      <p:sp>
        <p:nvSpPr>
          <p:cNvPr id="31" name="Text 25"/>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3F"/>
                </a:solidFill>
                <a:latin typeface="Georgia" pitchFamily="18" charset="0"/>
                <a:ea typeface="Georgia" pitchFamily="18" charset="-122"/>
                <a:cs typeface="Georgia" pitchFamily="18" charset="-120"/>
              </a:rPr>
              <a:t>Results</a:t>
            </a:r>
            <a:endParaRPr lang="en-US" sz="3200" dirty="0"/>
          </a:p>
        </p:txBody>
      </p:sp>
      <p:sp>
        <p:nvSpPr>
          <p:cNvPr id="3" name="Shape 1"/>
          <p:cNvSpPr/>
          <p:nvPr/>
        </p:nvSpPr>
        <p:spPr>
          <a:xfrm>
            <a:off x="815975" y="1537295"/>
            <a:ext cx="3380284" cy="1631752"/>
          </a:xfrm>
          <a:prstGeom prst="roundRect">
            <a:avLst>
              <a:gd name="adj" fmla="val 6032"/>
            </a:avLst>
          </a:prstGeom>
          <a:solidFill>
            <a:srgbClr val="FFFFFF"/>
          </a:solidFill>
          <a:ln w="6350">
            <a:solidFill>
              <a:srgbClr val="DDE1EA"/>
            </a:solidFill>
            <a:prstDash val="solid"/>
          </a:ln>
        </p:spPr>
      </p:sp>
      <p:sp>
        <p:nvSpPr>
          <p:cNvPr id="4" name="Text 2"/>
          <p:cNvSpPr/>
          <p:nvPr/>
        </p:nvSpPr>
        <p:spPr>
          <a:xfrm>
            <a:off x="1022350" y="1743670"/>
            <a:ext cx="3056560"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F5BEA"/>
                </a:solidFill>
                <a:latin typeface="Georgia" pitchFamily="18" charset="0"/>
                <a:ea typeface="Georgia" pitchFamily="18" charset="-122"/>
                <a:cs typeface="Georgia" pitchFamily="18" charset="-120"/>
              </a:rPr>
              <a:t>98%</a:t>
            </a:r>
            <a:endParaRPr lang="en-US" sz="4800" dirty="0"/>
          </a:p>
        </p:txBody>
      </p:sp>
      <p:sp>
        <p:nvSpPr>
          <p:cNvPr id="5" name="Text 3"/>
          <p:cNvSpPr/>
          <p:nvPr/>
        </p:nvSpPr>
        <p:spPr>
          <a:xfrm>
            <a:off x="1022350" y="2464991"/>
            <a:ext cx="30565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Accuracy on 1,126 test messages</a:t>
            </a:r>
            <a:endParaRPr lang="en-US" sz="1400" dirty="0"/>
          </a:p>
        </p:txBody>
      </p:sp>
      <p:sp>
        <p:nvSpPr>
          <p:cNvPr id="6" name="Shape 4"/>
          <p:cNvSpPr/>
          <p:nvPr/>
        </p:nvSpPr>
        <p:spPr>
          <a:xfrm>
            <a:off x="4405809" y="1537295"/>
            <a:ext cx="3380383" cy="1631752"/>
          </a:xfrm>
          <a:prstGeom prst="roundRect">
            <a:avLst>
              <a:gd name="adj" fmla="val 6032"/>
            </a:avLst>
          </a:prstGeom>
          <a:solidFill>
            <a:srgbClr val="FFFFFF"/>
          </a:solidFill>
          <a:ln w="6350">
            <a:solidFill>
              <a:srgbClr val="DDE1EA"/>
            </a:solidFill>
            <a:prstDash val="solid"/>
          </a:ln>
        </p:spPr>
      </p:sp>
      <p:sp>
        <p:nvSpPr>
          <p:cNvPr id="7" name="Text 5"/>
          <p:cNvSpPr/>
          <p:nvPr/>
        </p:nvSpPr>
        <p:spPr>
          <a:xfrm>
            <a:off x="4612184" y="1743670"/>
            <a:ext cx="3056662"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F5BEA"/>
                </a:solidFill>
                <a:latin typeface="Georgia" pitchFamily="18" charset="0"/>
                <a:ea typeface="Georgia" pitchFamily="18" charset="-122"/>
                <a:cs typeface="Georgia" pitchFamily="18" charset="-120"/>
              </a:rPr>
              <a:t>0.94</a:t>
            </a:r>
            <a:endParaRPr lang="en-US" sz="4800" dirty="0"/>
          </a:p>
        </p:txBody>
      </p:sp>
      <p:sp>
        <p:nvSpPr>
          <p:cNvPr id="8" name="Text 6"/>
          <p:cNvSpPr/>
          <p:nvPr/>
        </p:nvSpPr>
        <p:spPr>
          <a:xfrm>
            <a:off x="4612184" y="2464991"/>
            <a:ext cx="30566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Precision for scam: flagged messages that were real scams</a:t>
            </a:r>
            <a:endParaRPr lang="en-US" sz="1400" dirty="0"/>
          </a:p>
        </p:txBody>
      </p:sp>
      <p:sp>
        <p:nvSpPr>
          <p:cNvPr id="9" name="Shape 7"/>
          <p:cNvSpPr/>
          <p:nvPr/>
        </p:nvSpPr>
        <p:spPr>
          <a:xfrm>
            <a:off x="7995741" y="1537295"/>
            <a:ext cx="3380284" cy="1631752"/>
          </a:xfrm>
          <a:prstGeom prst="roundRect">
            <a:avLst>
              <a:gd name="adj" fmla="val 6032"/>
            </a:avLst>
          </a:prstGeom>
          <a:solidFill>
            <a:srgbClr val="FFFFFF"/>
          </a:solidFill>
          <a:ln w="6350">
            <a:solidFill>
              <a:srgbClr val="DDE1EA"/>
            </a:solidFill>
            <a:prstDash val="solid"/>
          </a:ln>
        </p:spPr>
      </p:sp>
      <p:sp>
        <p:nvSpPr>
          <p:cNvPr id="10" name="Text 8"/>
          <p:cNvSpPr/>
          <p:nvPr/>
        </p:nvSpPr>
        <p:spPr>
          <a:xfrm>
            <a:off x="8202116" y="1743670"/>
            <a:ext cx="3056560"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F5BEA"/>
                </a:solidFill>
                <a:latin typeface="Georgia" pitchFamily="18" charset="0"/>
                <a:ea typeface="Georgia" pitchFamily="18" charset="-122"/>
                <a:cs typeface="Georgia" pitchFamily="18" charset="-120"/>
              </a:rPr>
              <a:t>0.95</a:t>
            </a:r>
            <a:endParaRPr lang="en-US" sz="4800" dirty="0"/>
          </a:p>
        </p:txBody>
      </p:sp>
      <p:sp>
        <p:nvSpPr>
          <p:cNvPr id="11" name="Text 9"/>
          <p:cNvSpPr/>
          <p:nvPr/>
        </p:nvSpPr>
        <p:spPr>
          <a:xfrm>
            <a:off x="8202116" y="2464991"/>
            <a:ext cx="30565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Recall for scam: real scams that were caught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3438922"/>
          <a:ext cx="6337300" cy="1317724"/>
        </p:xfrm>
        <a:graphic>
          <a:graphicData uri="http://schemas.openxmlformats.org/drawingml/2006/table">
            <a:tbl>
              <a:tblPr/>
              <a:tblGrid>
                <a:gridCol w="2154682"/>
                <a:gridCol w="2091309"/>
                <a:gridCol w="2091309"/>
              </a:tblGrid>
              <a:tr h="439241">
                <a:tc>
                  <a:txBody>
                    <a:bodyPr/>
                    <a:lstStyle/>
                    <a:p>
                      <a:pPr indent="0" marL="0">
                        <a:lnSpc>
                          <a:spcPts val="2240"/>
                        </a:lnSpc>
                        <a:buNone/>
                      </a:pPr>
                      <a:r>
                        <a:rPr lang="en-US" sz="1600" b="1" dirty="0">
                          <a:solidFill>
                            <a:srgbClr val="1B2338"/>
                          </a:solidFill>
                          <a:latin typeface="Arial" pitchFamily="34" charset="0"/>
                          <a:ea typeface="Arial" pitchFamily="34" charset="-122"/>
                          <a:cs typeface="Arial" pitchFamily="34" charset="-120"/>
                        </a:rPr>
                        <a:t>Actual / predicted</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240"/>
                        </a:lnSpc>
                        <a:buNone/>
                      </a:pPr>
                      <a:r>
                        <a:rPr lang="en-US" sz="1600" b="1" dirty="0">
                          <a:solidFill>
                            <a:srgbClr val="1B2338"/>
                          </a:solidFill>
                          <a:latin typeface="Arial" pitchFamily="34" charset="0"/>
                          <a:ea typeface="Arial" pitchFamily="34" charset="-122"/>
                          <a:cs typeface="Arial" pitchFamily="34" charset="-120"/>
                        </a:rPr>
                        <a:t>Predicted genuine</a:t>
                      </a:r>
                      <a:endParaRPr lang="en-US" sz="1600" dirty="0">
                        <a:latin typeface="Arial" charset="0"/>
                        <a:ea typeface="Arial" charset="0"/>
                        <a:cs typeface="Arial"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240"/>
                        </a:lnSpc>
                        <a:buNone/>
                      </a:pPr>
                      <a:r>
                        <a:rPr lang="en-US" sz="1600" b="1" dirty="0">
                          <a:solidFill>
                            <a:srgbClr val="1B2338"/>
                          </a:solidFill>
                          <a:latin typeface="Arial" pitchFamily="34" charset="0"/>
                          <a:ea typeface="Arial" pitchFamily="34" charset="-122"/>
                          <a:cs typeface="Arial" pitchFamily="34" charset="-120"/>
                        </a:rPr>
                        <a:t>Predicted scam</a:t>
                      </a:r>
                      <a:endParaRPr lang="en-US" sz="1600" dirty="0">
                        <a:latin typeface="Arial" charset="0"/>
                        <a:ea typeface="Arial" charset="0"/>
                        <a:cs typeface="Arial"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39241">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Actually genuine</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961</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10</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Actually scam</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8</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147</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13" name="Text 10"/>
          <p:cNvSpPr/>
          <p:nvPr/>
        </p:nvSpPr>
        <p:spPr>
          <a:xfrm>
            <a:off x="7366000" y="3664744"/>
            <a:ext cx="413359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338"/>
                </a:solidFill>
                <a:latin typeface="Arial" pitchFamily="34" charset="0"/>
                <a:ea typeface="Arial" pitchFamily="34" charset="-122"/>
                <a:cs typeface="Arial" pitchFamily="34" charset="-120"/>
              </a:rPr>
              <a:t>147 of 155 scam messages were caught. The test set was held back and never seen during training.</a:t>
            </a:r>
            <a:endParaRPr lang="en-US" sz="1600" dirty="0"/>
          </a:p>
        </p:txBody>
      </p:sp>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Scam Message Detector · SDG 16</a:t>
            </a:r>
            <a:endParaRPr lang="en-US" sz="1200" dirty="0"/>
          </a:p>
        </p:txBody>
      </p:sp>
      <p:sp>
        <p:nvSpPr>
          <p:cNvPr id="15" name="Text 12"/>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3F"/>
                </a:solidFill>
                <a:latin typeface="Georgia" pitchFamily="18" charset="0"/>
                <a:ea typeface="Georgia" pitchFamily="18" charset="-122"/>
                <a:cs typeface="Georgia" pitchFamily="18" charset="-120"/>
              </a:rPr>
              <a:t>Improvement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10553700" cy="2635448"/>
        </p:xfrm>
        <a:graphic>
          <a:graphicData uri="http://schemas.openxmlformats.org/drawingml/2006/table">
            <a:tbl>
              <a:tblPr/>
              <a:tblGrid>
                <a:gridCol w="3799332"/>
                <a:gridCol w="3377184"/>
                <a:gridCol w="3377184"/>
              </a:tblGrid>
              <a:tr h="439241">
                <a:tc>
                  <a:txBody>
                    <a:bodyPr/>
                    <a:lstStyle/>
                    <a:p>
                      <a:pPr indent="0" marL="0">
                        <a:lnSpc>
                          <a:spcPts val="2240"/>
                        </a:lnSpc>
                        <a:buNone/>
                      </a:pPr>
                      <a:r>
                        <a:rPr lang="en-US" sz="1600" b="1" dirty="0">
                          <a:solidFill>
                            <a:srgbClr val="1B2338"/>
                          </a:solidFill>
                          <a:latin typeface="Arial" pitchFamily="34" charset="0"/>
                          <a:ea typeface="Arial" pitchFamily="34" charset="-122"/>
                          <a:cs typeface="Arial" pitchFamily="34" charset="-120"/>
                        </a:rPr>
                        <a:t>Measure</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240"/>
                        </a:lnSpc>
                        <a:buNone/>
                      </a:pPr>
                      <a:r>
                        <a:rPr lang="en-US" sz="1600" b="1" dirty="0">
                          <a:solidFill>
                            <a:srgbClr val="1B2338"/>
                          </a:solidFill>
                          <a:latin typeface="Arial" pitchFamily="34" charset="0"/>
                          <a:ea typeface="Arial" pitchFamily="34" charset="-122"/>
                          <a:cs typeface="Arial" pitchFamily="34" charset="-120"/>
                        </a:rPr>
                        <a:t>First model</a:t>
                      </a:r>
                      <a:endParaRPr lang="en-US" sz="1600" dirty="0">
                        <a:latin typeface="Arial" charset="0"/>
                        <a:ea typeface="Arial" charset="0"/>
                        <a:cs typeface="Arial"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2240"/>
                        </a:lnSpc>
                        <a:buNone/>
                      </a:pPr>
                      <a:r>
                        <a:rPr lang="en-US" sz="1600" b="1" dirty="0">
                          <a:solidFill>
                            <a:srgbClr val="1B2338"/>
                          </a:solidFill>
                          <a:latin typeface="Arial" pitchFamily="34" charset="0"/>
                          <a:ea typeface="Arial" pitchFamily="34" charset="-122"/>
                          <a:cs typeface="Arial" pitchFamily="34" charset="-120"/>
                        </a:rPr>
                        <a:t>Final model</a:t>
                      </a:r>
                      <a:endParaRPr lang="en-US" sz="1600" dirty="0">
                        <a:latin typeface="Arial" charset="0"/>
                        <a:ea typeface="Arial" charset="0"/>
                        <a:cs typeface="Arial" charset="0"/>
                      </a:endParaRPr>
                    </a:p>
                  </a:txBody>
                  <a:tcPr marL="71120" marR="71120" marT="71120" marB="7112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439241">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Accuracy</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97%</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98%</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Scam recall</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0.81</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0.95</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Scam precision</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0.99</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0.94</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Scams missed</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29 of 151</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8 of 155</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439241">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Genuine flagged as scam</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1 of 968</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2240"/>
                        </a:lnSpc>
                        <a:buNone/>
                      </a:pPr>
                      <a:r>
                        <a:rPr lang="en-US" sz="1600" dirty="0">
                          <a:solidFill>
                            <a:srgbClr val="1B2338"/>
                          </a:solidFill>
                          <a:latin typeface="Arial" pitchFamily="34" charset="0"/>
                          <a:ea typeface="Arial" pitchFamily="34" charset="-122"/>
                          <a:cs typeface="Arial" pitchFamily="34" charset="-120"/>
                        </a:rPr>
                        <a:t>10 of 971</a:t>
                      </a:r>
                      <a:endParaRPr lang="en-US" sz="1600" dirty="0">
                        <a:latin typeface="Arial" charset="0"/>
                        <a:ea typeface="Arial" charset="0"/>
                        <a:cs typeface="Arial" charset="0"/>
                      </a:endParaRPr>
                    </a:p>
                  </a:txBody>
                  <a:tcPr marL="71120" marR="71120" marT="71120" marB="7112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4" name="Text 1"/>
          <p:cNvSpPr/>
          <p:nvPr/>
        </p:nvSpPr>
        <p:spPr>
          <a:xfrm>
            <a:off x="812800" y="4436269"/>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First model: Naive Bayes with 20 Hindi messages. Final model: Logistic Regression with balanced class weights and 56 Hindi messages.</a:t>
            </a:r>
            <a:endParaRPr lang="en-US" sz="1400" dirty="0"/>
          </a:p>
        </p:txBody>
      </p:sp>
      <p:sp>
        <p:nvSpPr>
          <p:cNvPr id="5" name="Text 2"/>
          <p:cNvSpPr/>
          <p:nvPr/>
        </p:nvSpPr>
        <p:spPr>
          <a:xfrm>
            <a:off x="812800" y="51879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03F"/>
                </a:solidFill>
                <a:latin typeface="Arial" pitchFamily="34" charset="0"/>
                <a:ea typeface="Arial" pitchFamily="34" charset="-122"/>
                <a:cs typeface="Arial" pitchFamily="34" charset="-120"/>
              </a:rPr>
              <a:t>Recall matters most: a missed scam costs more than an extra warning.</a:t>
            </a:r>
            <a:endParaRPr lang="en-US" sz="16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Scam Message Detector · SDG 16</a:t>
            </a:r>
            <a:endParaRPr lang="en-US" sz="1200" dirty="0"/>
          </a:p>
        </p:txBody>
      </p:sp>
      <p:sp>
        <p:nvSpPr>
          <p:cNvPr id="7" name="Text 4"/>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03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7F6F2"/>
                </a:solidFill>
                <a:latin typeface="Georgia" pitchFamily="18" charset="0"/>
                <a:ea typeface="Georgia" pitchFamily="18" charset="-122"/>
                <a:cs typeface="Georgia" pitchFamily="18" charset="-120"/>
              </a:rPr>
              <a:t>Demo</a:t>
            </a:r>
            <a:endParaRPr lang="en-US" sz="3200" dirty="0"/>
          </a:p>
        </p:txBody>
      </p:sp>
      <p:sp>
        <p:nvSpPr>
          <p:cNvPr id="3" name="Shape 1"/>
          <p:cNvSpPr/>
          <p:nvPr/>
        </p:nvSpPr>
        <p:spPr>
          <a:xfrm>
            <a:off x="812800" y="1534120"/>
            <a:ext cx="4191000" cy="624780"/>
          </a:xfrm>
          <a:prstGeom prst="roundRect">
            <a:avLst>
              <a:gd name="adj" fmla="val 16262"/>
            </a:avLst>
          </a:prstGeom>
          <a:solidFill>
            <a:srgbClr val="1F3263"/>
          </a:solidFill>
          <a:ln/>
        </p:spPr>
      </p:sp>
      <p:sp>
        <p:nvSpPr>
          <p:cNvPr id="4" name="Text 2"/>
          <p:cNvSpPr/>
          <p:nvPr/>
        </p:nvSpPr>
        <p:spPr>
          <a:xfrm>
            <a:off x="990600" y="1686520"/>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8772E"/>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1422400" y="1714401"/>
            <a:ext cx="3505708"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6F2"/>
                </a:solidFill>
                <a:latin typeface="Arial" pitchFamily="34" charset="0"/>
                <a:ea typeface="Arial" pitchFamily="34" charset="-122"/>
                <a:cs typeface="Arial" pitchFamily="34" charset="-120"/>
              </a:rPr>
              <a:t>Paste a message</a:t>
            </a:r>
            <a:endParaRPr lang="en-US" sz="1600" dirty="0"/>
          </a:p>
        </p:txBody>
      </p:sp>
      <p:sp>
        <p:nvSpPr>
          <p:cNvPr id="6" name="Shape 4"/>
          <p:cNvSpPr/>
          <p:nvPr/>
        </p:nvSpPr>
        <p:spPr>
          <a:xfrm>
            <a:off x="812800" y="2285901"/>
            <a:ext cx="4191000" cy="624780"/>
          </a:xfrm>
          <a:prstGeom prst="roundRect">
            <a:avLst>
              <a:gd name="adj" fmla="val 16262"/>
            </a:avLst>
          </a:prstGeom>
          <a:solidFill>
            <a:srgbClr val="1F3263"/>
          </a:solidFill>
          <a:ln/>
        </p:spPr>
      </p:sp>
      <p:sp>
        <p:nvSpPr>
          <p:cNvPr id="7" name="Text 5"/>
          <p:cNvSpPr/>
          <p:nvPr/>
        </p:nvSpPr>
        <p:spPr>
          <a:xfrm>
            <a:off x="990600" y="2438301"/>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8772E"/>
                </a:solidFill>
                <a:latin typeface="Arial" pitchFamily="34" charset="0"/>
                <a:ea typeface="Arial" pitchFamily="34" charset="-122"/>
                <a:cs typeface="Arial" pitchFamily="34" charset="-120"/>
              </a:rPr>
              <a:t>2</a:t>
            </a:r>
            <a:endParaRPr lang="en-US" sz="1800" dirty="0"/>
          </a:p>
        </p:txBody>
      </p:sp>
      <p:sp>
        <p:nvSpPr>
          <p:cNvPr id="8" name="Text 6"/>
          <p:cNvSpPr/>
          <p:nvPr/>
        </p:nvSpPr>
        <p:spPr>
          <a:xfrm>
            <a:off x="1422400" y="2466181"/>
            <a:ext cx="3505708"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6F2"/>
                </a:solidFill>
                <a:latin typeface="Arial" pitchFamily="34" charset="0"/>
                <a:ea typeface="Arial" pitchFamily="34" charset="-122"/>
                <a:cs typeface="Arial" pitchFamily="34" charset="-120"/>
              </a:rPr>
              <a:t>Press Check message</a:t>
            </a:r>
            <a:endParaRPr lang="en-US" sz="1600" dirty="0"/>
          </a:p>
        </p:txBody>
      </p:sp>
      <p:sp>
        <p:nvSpPr>
          <p:cNvPr id="9" name="Shape 7"/>
          <p:cNvSpPr/>
          <p:nvPr/>
        </p:nvSpPr>
        <p:spPr>
          <a:xfrm>
            <a:off x="812800" y="3037681"/>
            <a:ext cx="4191000" cy="833041"/>
          </a:xfrm>
          <a:prstGeom prst="roundRect">
            <a:avLst>
              <a:gd name="adj" fmla="val 12196"/>
            </a:avLst>
          </a:prstGeom>
          <a:solidFill>
            <a:srgbClr val="1F3263"/>
          </a:solidFill>
          <a:ln/>
        </p:spPr>
      </p:sp>
      <p:sp>
        <p:nvSpPr>
          <p:cNvPr id="10" name="Text 8"/>
          <p:cNvSpPr/>
          <p:nvPr/>
        </p:nvSpPr>
        <p:spPr>
          <a:xfrm>
            <a:off x="990600" y="3294162"/>
            <a:ext cx="3556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8772E"/>
                </a:solidFill>
                <a:latin typeface="Arial" pitchFamily="34" charset="0"/>
                <a:ea typeface="Arial" pitchFamily="34" charset="-122"/>
                <a:cs typeface="Arial" pitchFamily="34" charset="-120"/>
              </a:rPr>
              <a:t>3</a:t>
            </a:r>
            <a:endParaRPr lang="en-US" sz="1800" dirty="0"/>
          </a:p>
        </p:txBody>
      </p:sp>
      <p:sp>
        <p:nvSpPr>
          <p:cNvPr id="11" name="Text 9"/>
          <p:cNvSpPr/>
          <p:nvPr/>
        </p:nvSpPr>
        <p:spPr>
          <a:xfrm>
            <a:off x="1422400" y="3190081"/>
            <a:ext cx="3505708"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6F2"/>
                </a:solidFill>
                <a:latin typeface="Arial" pitchFamily="34" charset="0"/>
                <a:ea typeface="Arial" pitchFamily="34" charset="-122"/>
                <a:cs typeface="Arial" pitchFamily="34" charset="-120"/>
              </a:rPr>
              <a:t>Read the verdict, probability and advice</a:t>
            </a:r>
            <a:endParaRPr lang="en-US" sz="1600" dirty="0"/>
          </a:p>
        </p:txBody>
      </p:sp>
      <p:sp>
        <p:nvSpPr>
          <p:cNvPr id="12" name="Text 10"/>
          <p:cNvSpPr/>
          <p:nvPr/>
        </p:nvSpPr>
        <p:spPr>
          <a:xfrm>
            <a:off x="812800" y="3997722"/>
            <a:ext cx="431673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E0"/>
                </a:solidFill>
                <a:latin typeface="Arial" pitchFamily="34" charset="0"/>
                <a:ea typeface="Arial" pitchFamily="34" charset="-122"/>
                <a:cs typeface="Arial" pitchFamily="34" charset="-120"/>
              </a:rPr>
              <a:t>One click switches the whole app between English and Hindi.</a:t>
            </a:r>
            <a:endParaRPr lang="en-US" sz="1400" dirty="0"/>
          </a:p>
        </p:txBody>
      </p:sp>
      <p:sp>
        <p:nvSpPr>
          <p:cNvPr id="13" name="Shape 11"/>
          <p:cNvSpPr/>
          <p:nvPr/>
        </p:nvSpPr>
        <p:spPr>
          <a:xfrm>
            <a:off x="5257800" y="1534120"/>
            <a:ext cx="6121400" cy="1015802"/>
          </a:xfrm>
          <a:prstGeom prst="roundRect">
            <a:avLst>
              <a:gd name="adj" fmla="val 7501"/>
            </a:avLst>
          </a:prstGeom>
          <a:solidFill>
            <a:srgbClr val="1A2B52"/>
          </a:solidFill>
          <a:ln/>
        </p:spPr>
      </p:sp>
      <p:sp>
        <p:nvSpPr>
          <p:cNvPr id="14" name="Shape 12"/>
          <p:cNvSpPr/>
          <p:nvPr/>
        </p:nvSpPr>
        <p:spPr>
          <a:xfrm>
            <a:off x="5257800" y="1534120"/>
            <a:ext cx="6121400" cy="1015802"/>
          </a:xfrm>
          <a:custGeom>
            <a:avLst/>
            <a:gdLst/>
            <a:ahLst/>
            <a:cxnLst/>
            <a:rect l="l" t="t" r="r" b="b"/>
            <a:pathLst>
              <a:path w="6121400" h="1015802">
                <a:moveTo>
                  <a:pt x="76200" y="1015802"/>
                </a:moveTo>
                <a:lnTo>
                  <a:pt x="76200" y="1015802"/>
                </a:lnTo>
                <a:arcTo hR="76200" wR="76200" stAng="5400000" swAng="5400000"/>
                <a:lnTo>
                  <a:pt x="0" y="76200"/>
                </a:lnTo>
                <a:arcTo hR="76200" wR="76200" stAng="10800000" swAng="5400000"/>
                <a:lnTo>
                  <a:pt x="76200" y="0"/>
                </a:lnTo>
                <a:arcTo hR="76200" wR="25400" stAng="16200000" swAng="-5400000"/>
                <a:lnTo>
                  <a:pt x="50800" y="939602"/>
                </a:lnTo>
                <a:arcTo hR="76200" wR="25400" stAng="10800000" swAng="-5400000"/>
                <a:close/>
              </a:path>
            </a:pathLst>
          </a:custGeom>
          <a:solidFill>
            <a:srgbClr val="E8772E"/>
          </a:solidFill>
          <a:ln/>
        </p:spPr>
      </p:sp>
      <p:sp>
        <p:nvSpPr>
          <p:cNvPr id="15" name="Text 13"/>
          <p:cNvSpPr/>
          <p:nvPr/>
        </p:nvSpPr>
        <p:spPr>
          <a:xfrm>
            <a:off x="5486400" y="166112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FC8E0"/>
                </a:solidFill>
                <a:latin typeface="Arial" pitchFamily="34" charset="0"/>
                <a:ea typeface="Arial" pitchFamily="34" charset="-122"/>
                <a:cs typeface="Arial" pitchFamily="34" charset="-120"/>
              </a:rPr>
              <a:t>Scam example</a:t>
            </a:r>
            <a:endParaRPr lang="en-US" sz="1200" dirty="0"/>
          </a:p>
        </p:txBody>
      </p:sp>
      <p:sp>
        <p:nvSpPr>
          <p:cNvPr id="16" name="Text 14"/>
          <p:cNvSpPr/>
          <p:nvPr/>
        </p:nvSpPr>
        <p:spPr>
          <a:xfrm>
            <a:off x="5486400" y="1925241"/>
            <a:ext cx="58864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Your KYC has expired. Click this link now or your account will be blocked.</a:t>
            </a:r>
            <a:endParaRPr lang="en-US" sz="1400" dirty="0"/>
          </a:p>
        </p:txBody>
      </p:sp>
      <p:sp>
        <p:nvSpPr>
          <p:cNvPr id="17" name="Shape 15"/>
          <p:cNvSpPr/>
          <p:nvPr/>
        </p:nvSpPr>
        <p:spPr>
          <a:xfrm>
            <a:off x="5257800" y="2676922"/>
            <a:ext cx="6121400" cy="1015802"/>
          </a:xfrm>
          <a:prstGeom prst="roundRect">
            <a:avLst>
              <a:gd name="adj" fmla="val 7501"/>
            </a:avLst>
          </a:prstGeom>
          <a:solidFill>
            <a:srgbClr val="1A2B52"/>
          </a:solidFill>
          <a:ln/>
        </p:spPr>
      </p:sp>
      <p:sp>
        <p:nvSpPr>
          <p:cNvPr id="18" name="Shape 16"/>
          <p:cNvSpPr/>
          <p:nvPr/>
        </p:nvSpPr>
        <p:spPr>
          <a:xfrm>
            <a:off x="5257800" y="2676922"/>
            <a:ext cx="6121400" cy="1015802"/>
          </a:xfrm>
          <a:custGeom>
            <a:avLst/>
            <a:gdLst/>
            <a:ahLst/>
            <a:cxnLst/>
            <a:rect l="l" t="t" r="r" b="b"/>
            <a:pathLst>
              <a:path w="6121400" h="1015802">
                <a:moveTo>
                  <a:pt x="76200" y="1015802"/>
                </a:moveTo>
                <a:lnTo>
                  <a:pt x="76200" y="1015802"/>
                </a:lnTo>
                <a:arcTo hR="76200" wR="76200" stAng="5400000" swAng="5400000"/>
                <a:lnTo>
                  <a:pt x="0" y="76200"/>
                </a:lnTo>
                <a:arcTo hR="76200" wR="76200" stAng="10800000" swAng="5400000"/>
                <a:lnTo>
                  <a:pt x="76200" y="0"/>
                </a:lnTo>
                <a:arcTo hR="76200" wR="25400" stAng="16200000" swAng="-5400000"/>
                <a:lnTo>
                  <a:pt x="50800" y="939602"/>
                </a:lnTo>
                <a:arcTo hR="76200" wR="25400" stAng="10800000" swAng="-5400000"/>
                <a:close/>
              </a:path>
            </a:pathLst>
          </a:custGeom>
          <a:solidFill>
            <a:srgbClr val="E8772E"/>
          </a:solidFill>
          <a:ln/>
        </p:spPr>
      </p:sp>
      <p:sp>
        <p:nvSpPr>
          <p:cNvPr id="19" name="Text 17"/>
          <p:cNvSpPr/>
          <p:nvPr/>
        </p:nvSpPr>
        <p:spPr>
          <a:xfrm>
            <a:off x="5486400" y="2803922"/>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FC8E0"/>
                </a:solidFill>
                <a:latin typeface="Arial" pitchFamily="34" charset="0"/>
                <a:ea typeface="Arial" pitchFamily="34" charset="-122"/>
                <a:cs typeface="Arial" pitchFamily="34" charset="-120"/>
              </a:rPr>
              <a:t>Scam example</a:t>
            </a:r>
            <a:endParaRPr lang="en-US" sz="1200" dirty="0"/>
          </a:p>
        </p:txBody>
      </p:sp>
      <p:sp>
        <p:nvSpPr>
          <p:cNvPr id="20" name="Text 18"/>
          <p:cNvSpPr/>
          <p:nvPr/>
        </p:nvSpPr>
        <p:spPr>
          <a:xfrm>
            <a:off x="5486400" y="3068042"/>
            <a:ext cx="58864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Congratulations! You won 10 lakh in a lottery. Share your OTP to claim. (82.9% scam in our run)</a:t>
            </a:r>
            <a:endParaRPr lang="en-US" sz="1400" dirty="0"/>
          </a:p>
        </p:txBody>
      </p:sp>
      <p:sp>
        <p:nvSpPr>
          <p:cNvPr id="21" name="Shape 19"/>
          <p:cNvSpPr/>
          <p:nvPr/>
        </p:nvSpPr>
        <p:spPr>
          <a:xfrm>
            <a:off x="5257800" y="3819723"/>
            <a:ext cx="6121400" cy="766961"/>
          </a:xfrm>
          <a:prstGeom prst="roundRect">
            <a:avLst>
              <a:gd name="adj" fmla="val 9935"/>
            </a:avLst>
          </a:prstGeom>
          <a:solidFill>
            <a:srgbClr val="1A2B52"/>
          </a:solidFill>
          <a:ln/>
        </p:spPr>
      </p:sp>
      <p:sp>
        <p:nvSpPr>
          <p:cNvPr id="22" name="Shape 20"/>
          <p:cNvSpPr/>
          <p:nvPr/>
        </p:nvSpPr>
        <p:spPr>
          <a:xfrm>
            <a:off x="5257800" y="3819723"/>
            <a:ext cx="6121400" cy="766961"/>
          </a:xfrm>
          <a:custGeom>
            <a:avLst/>
            <a:gdLst/>
            <a:ahLst/>
            <a:cxnLst/>
            <a:rect l="l" t="t" r="r" b="b"/>
            <a:pathLst>
              <a:path w="6121400" h="766961">
                <a:moveTo>
                  <a:pt x="76200" y="766961"/>
                </a:moveTo>
                <a:lnTo>
                  <a:pt x="76200" y="766961"/>
                </a:lnTo>
                <a:arcTo hR="76200" wR="76200" stAng="5400000" swAng="5400000"/>
                <a:lnTo>
                  <a:pt x="0" y="76200"/>
                </a:lnTo>
                <a:arcTo hR="76200" wR="76200" stAng="10800000" swAng="5400000"/>
                <a:lnTo>
                  <a:pt x="76200" y="0"/>
                </a:lnTo>
                <a:arcTo hR="76200" wR="25400" stAng="16200000" swAng="-5400000"/>
                <a:lnTo>
                  <a:pt x="50800" y="690761"/>
                </a:lnTo>
                <a:arcTo hR="76200" wR="25400" stAng="10800000" swAng="-5400000"/>
                <a:close/>
              </a:path>
            </a:pathLst>
          </a:custGeom>
          <a:solidFill>
            <a:srgbClr val="7FA2FF"/>
          </a:solidFill>
          <a:ln/>
        </p:spPr>
      </p:sp>
      <p:sp>
        <p:nvSpPr>
          <p:cNvPr id="23" name="Text 21"/>
          <p:cNvSpPr/>
          <p:nvPr/>
        </p:nvSpPr>
        <p:spPr>
          <a:xfrm>
            <a:off x="5486400" y="3946723"/>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FC8E0"/>
                </a:solidFill>
                <a:latin typeface="Arial" pitchFamily="34" charset="0"/>
                <a:ea typeface="Arial" pitchFamily="34" charset="-122"/>
                <a:cs typeface="Arial" pitchFamily="34" charset="-120"/>
              </a:rPr>
              <a:t>Genuine example</a:t>
            </a:r>
            <a:endParaRPr lang="en-US" sz="1200" dirty="0"/>
          </a:p>
        </p:txBody>
      </p:sp>
      <p:sp>
        <p:nvSpPr>
          <p:cNvPr id="24" name="Text 22"/>
          <p:cNvSpPr/>
          <p:nvPr/>
        </p:nvSpPr>
        <p:spPr>
          <a:xfrm>
            <a:off x="5486400" y="4210844"/>
            <a:ext cx="58864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I will reach home in 10 minutes, keep the dinner ready.</a:t>
            </a:r>
            <a:endParaRPr lang="en-US" sz="1400" dirty="0"/>
          </a:p>
        </p:txBody>
      </p:sp>
      <p:sp>
        <p:nvSpPr>
          <p:cNvPr id="25"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Scam Message Detector · SDG 16</a:t>
            </a:r>
            <a:endParaRPr lang="en-US" sz="1200" dirty="0"/>
          </a:p>
        </p:txBody>
      </p:sp>
      <p:sp>
        <p:nvSpPr>
          <p:cNvPr id="26" name="Text 24"/>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E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3F"/>
                </a:solidFill>
                <a:latin typeface="Georgia" pitchFamily="18" charset="0"/>
                <a:ea typeface="Georgia" pitchFamily="18" charset="-122"/>
                <a:cs typeface="Georgia" pitchFamily="18" charset="-120"/>
              </a:rPr>
              <a:t>Limitations</a:t>
            </a:r>
            <a:endParaRPr lang="en-US" sz="3200" dirty="0"/>
          </a:p>
        </p:txBody>
      </p:sp>
      <p:sp>
        <p:nvSpPr>
          <p:cNvPr id="3" name="Shape 1"/>
          <p:cNvSpPr/>
          <p:nvPr/>
        </p:nvSpPr>
        <p:spPr>
          <a:xfrm>
            <a:off x="815975" y="1537295"/>
            <a:ext cx="5175250" cy="1296591"/>
          </a:xfrm>
          <a:prstGeom prst="roundRect">
            <a:avLst>
              <a:gd name="adj" fmla="val 7591"/>
            </a:avLst>
          </a:prstGeom>
          <a:solidFill>
            <a:srgbClr val="FFFFFF"/>
          </a:solidFill>
          <a:ln w="6350">
            <a:solidFill>
              <a:srgbClr val="DDE1EA"/>
            </a:solidFill>
            <a:prstDash val="solid"/>
          </a:ln>
        </p:spPr>
      </p:sp>
      <p:sp>
        <p:nvSpPr>
          <p:cNvPr id="4" name="Text 2"/>
          <p:cNvSpPr/>
          <p:nvPr/>
        </p:nvSpPr>
        <p:spPr>
          <a:xfrm>
            <a:off x="1022350" y="1743670"/>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Small Hindi data</a:t>
            </a:r>
            <a:endParaRPr lang="en-US" sz="1800" dirty="0"/>
          </a:p>
        </p:txBody>
      </p:sp>
      <p:sp>
        <p:nvSpPr>
          <p:cNvPr id="5" name="Text 3"/>
          <p:cNvSpPr/>
          <p:nvPr/>
        </p:nvSpPr>
        <p:spPr>
          <a:xfrm>
            <a:off x="1022350" y="2094111"/>
            <a:ext cx="49053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Only 56 Hindi and Hinglish messages, so Hindi results are less reliable than English.</a:t>
            </a:r>
            <a:endParaRPr lang="en-US" sz="1500" dirty="0"/>
          </a:p>
        </p:txBody>
      </p:sp>
      <p:sp>
        <p:nvSpPr>
          <p:cNvPr id="6" name="Shape 4"/>
          <p:cNvSpPr/>
          <p:nvPr/>
        </p:nvSpPr>
        <p:spPr>
          <a:xfrm>
            <a:off x="6200775" y="1537295"/>
            <a:ext cx="5175250" cy="1296591"/>
          </a:xfrm>
          <a:prstGeom prst="roundRect">
            <a:avLst>
              <a:gd name="adj" fmla="val 7591"/>
            </a:avLst>
          </a:prstGeom>
          <a:solidFill>
            <a:srgbClr val="FFFFFF"/>
          </a:solidFill>
          <a:ln w="6350">
            <a:solidFill>
              <a:srgbClr val="DDE1EA"/>
            </a:solidFill>
            <a:prstDash val="solid"/>
          </a:ln>
        </p:spPr>
      </p:sp>
      <p:sp>
        <p:nvSpPr>
          <p:cNvPr id="7" name="Text 5"/>
          <p:cNvSpPr/>
          <p:nvPr/>
        </p:nvSpPr>
        <p:spPr>
          <a:xfrm>
            <a:off x="6407150" y="1743670"/>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Older English data</a:t>
            </a:r>
            <a:endParaRPr lang="en-US" sz="1800" dirty="0"/>
          </a:p>
        </p:txBody>
      </p:sp>
      <p:sp>
        <p:nvSpPr>
          <p:cNvPr id="8" name="Text 6"/>
          <p:cNvSpPr/>
          <p:nvPr/>
        </p:nvSpPr>
        <p:spPr>
          <a:xfrm>
            <a:off x="6407150" y="2094111"/>
            <a:ext cx="49053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The SMS Spam Collection does not include the newest scam styles.</a:t>
            </a:r>
            <a:endParaRPr lang="en-US" sz="1500" dirty="0"/>
          </a:p>
        </p:txBody>
      </p:sp>
      <p:sp>
        <p:nvSpPr>
          <p:cNvPr id="9" name="Shape 7"/>
          <p:cNvSpPr/>
          <p:nvPr/>
        </p:nvSpPr>
        <p:spPr>
          <a:xfrm>
            <a:off x="815975" y="3043436"/>
            <a:ext cx="5175250" cy="1296591"/>
          </a:xfrm>
          <a:prstGeom prst="roundRect">
            <a:avLst>
              <a:gd name="adj" fmla="val 7591"/>
            </a:avLst>
          </a:prstGeom>
          <a:solidFill>
            <a:srgbClr val="FFFFFF"/>
          </a:solidFill>
          <a:ln w="6350">
            <a:solidFill>
              <a:srgbClr val="DDE1EA"/>
            </a:solidFill>
            <a:prstDash val="solid"/>
          </a:ln>
        </p:spPr>
      </p:sp>
      <p:sp>
        <p:nvSpPr>
          <p:cNvPr id="10" name="Text 8"/>
          <p:cNvSpPr/>
          <p:nvPr/>
        </p:nvSpPr>
        <p:spPr>
          <a:xfrm>
            <a:off x="1022350" y="324981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Words only</a:t>
            </a:r>
            <a:endParaRPr lang="en-US" sz="1800" dirty="0"/>
          </a:p>
        </p:txBody>
      </p:sp>
      <p:sp>
        <p:nvSpPr>
          <p:cNvPr id="11" name="Text 9"/>
          <p:cNvSpPr/>
          <p:nvPr/>
        </p:nvSpPr>
        <p:spPr>
          <a:xfrm>
            <a:off x="1022350" y="3600252"/>
            <a:ext cx="49053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The model reads words, not links, sender numbers or screenshots.</a:t>
            </a:r>
            <a:endParaRPr lang="en-US" sz="1500" dirty="0"/>
          </a:p>
        </p:txBody>
      </p:sp>
      <p:sp>
        <p:nvSpPr>
          <p:cNvPr id="12" name="Shape 10"/>
          <p:cNvSpPr/>
          <p:nvPr/>
        </p:nvSpPr>
        <p:spPr>
          <a:xfrm>
            <a:off x="6200775" y="3043436"/>
            <a:ext cx="5175250" cy="1296591"/>
          </a:xfrm>
          <a:prstGeom prst="roundRect">
            <a:avLst>
              <a:gd name="adj" fmla="val 7591"/>
            </a:avLst>
          </a:prstGeom>
          <a:solidFill>
            <a:srgbClr val="FFFFFF"/>
          </a:solidFill>
          <a:ln w="6350">
            <a:solidFill>
              <a:srgbClr val="DDE1EA"/>
            </a:solidFill>
            <a:prstDash val="solid"/>
          </a:ln>
        </p:spPr>
      </p:sp>
      <p:sp>
        <p:nvSpPr>
          <p:cNvPr id="13" name="Text 11"/>
          <p:cNvSpPr/>
          <p:nvPr/>
        </p:nvSpPr>
        <p:spPr>
          <a:xfrm>
            <a:off x="6407150" y="3249811"/>
            <a:ext cx="490537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EA"/>
                </a:solidFill>
                <a:latin typeface="Georgia" pitchFamily="18" charset="0"/>
                <a:ea typeface="Georgia" pitchFamily="18" charset="-122"/>
                <a:cs typeface="Georgia" pitchFamily="18" charset="-120"/>
              </a:rPr>
              <a:t>Screening only</a:t>
            </a:r>
            <a:endParaRPr lang="en-US" sz="1800" dirty="0"/>
          </a:p>
        </p:txBody>
      </p:sp>
      <p:sp>
        <p:nvSpPr>
          <p:cNvPr id="14" name="Text 12"/>
          <p:cNvSpPr/>
          <p:nvPr/>
        </p:nvSpPr>
        <p:spPr>
          <a:xfrm>
            <a:off x="6407150" y="3600252"/>
            <a:ext cx="49053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The answer is a probability, not proof. 10 of 971 genuine test messages were flagged.</a:t>
            </a:r>
            <a:endParaRPr lang="en-US" sz="1500" dirty="0"/>
          </a:p>
        </p:txBody>
      </p:sp>
      <p:sp>
        <p:nvSpPr>
          <p:cNvPr id="15"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Scam Message Detector · SDG 16</a:t>
            </a:r>
            <a:endParaRPr lang="en-US" sz="1200" dirty="0"/>
          </a:p>
        </p:txBody>
      </p:sp>
      <p:sp>
        <p:nvSpPr>
          <p:cNvPr id="16" name="Text 14"/>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2203F"/>
                </a:solidFill>
                <a:latin typeface="Georgia" pitchFamily="18" charset="0"/>
                <a:ea typeface="Georgia" pitchFamily="18" charset="-122"/>
                <a:cs typeface="Georgia" pitchFamily="18" charset="-120"/>
              </a:rPr>
              <a:t>Future work</a:t>
            </a:r>
            <a:endParaRPr lang="en-US" sz="3200" dirty="0"/>
          </a:p>
        </p:txBody>
      </p:sp>
      <p:sp>
        <p:nvSpPr>
          <p:cNvPr id="3" name="Shape 1"/>
          <p:cNvSpPr/>
          <p:nvPr/>
        </p:nvSpPr>
        <p:spPr>
          <a:xfrm>
            <a:off x="815975" y="1537295"/>
            <a:ext cx="5175250" cy="1268710"/>
          </a:xfrm>
          <a:prstGeom prst="roundRect">
            <a:avLst>
              <a:gd name="adj" fmla="val 7758"/>
            </a:avLst>
          </a:prstGeom>
          <a:solidFill>
            <a:srgbClr val="FFFFFF"/>
          </a:solidFill>
          <a:ln w="6350">
            <a:solidFill>
              <a:srgbClr val="DDE1EA"/>
            </a:solidFill>
            <a:prstDash val="solid"/>
          </a:ln>
        </p:spPr>
      </p:sp>
      <p:sp>
        <p:nvSpPr>
          <p:cNvPr id="4" name="Text 2"/>
          <p:cNvSpPr/>
          <p:nvPr/>
        </p:nvSpPr>
        <p:spPr>
          <a:xfrm>
            <a:off x="1022350" y="1743670"/>
            <a:ext cx="40640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01A"/>
                </a:solidFill>
                <a:latin typeface="Georgia" pitchFamily="18" charset="0"/>
                <a:ea typeface="Georgia" pitchFamily="18" charset="-122"/>
                <a:cs typeface="Georgia" pitchFamily="18" charset="-120"/>
              </a:rPr>
              <a:t>1</a:t>
            </a:r>
            <a:endParaRPr lang="en-US" sz="3200" dirty="0"/>
          </a:p>
        </p:txBody>
      </p:sp>
      <p:sp>
        <p:nvSpPr>
          <p:cNvPr id="5" name="Text 3"/>
          <p:cNvSpPr/>
          <p:nvPr/>
        </p:nvSpPr>
        <p:spPr>
          <a:xfrm>
            <a:off x="1530350" y="1743670"/>
            <a:ext cx="4382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3F"/>
                </a:solidFill>
                <a:latin typeface="Georgia" pitchFamily="18" charset="0"/>
                <a:ea typeface="Georgia" pitchFamily="18" charset="-122"/>
                <a:cs typeface="Georgia" pitchFamily="18" charset="-120"/>
              </a:rPr>
              <a:t>Bigger dataset</a:t>
            </a:r>
            <a:endParaRPr lang="en-US" sz="1700" dirty="0"/>
          </a:p>
        </p:txBody>
      </p:sp>
      <p:sp>
        <p:nvSpPr>
          <p:cNvPr id="6" name="Text 4"/>
          <p:cNvSpPr/>
          <p:nvPr/>
        </p:nvSpPr>
        <p:spPr>
          <a:xfrm>
            <a:off x="1530350" y="2066230"/>
            <a:ext cx="438213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Collect more Hindi and Hinglish scam messages from real reports.</a:t>
            </a:r>
            <a:endParaRPr lang="en-US" sz="1500" dirty="0"/>
          </a:p>
        </p:txBody>
      </p:sp>
      <p:sp>
        <p:nvSpPr>
          <p:cNvPr id="7" name="Shape 5"/>
          <p:cNvSpPr/>
          <p:nvPr/>
        </p:nvSpPr>
        <p:spPr>
          <a:xfrm>
            <a:off x="6200775" y="1537295"/>
            <a:ext cx="5175250" cy="1268710"/>
          </a:xfrm>
          <a:prstGeom prst="roundRect">
            <a:avLst>
              <a:gd name="adj" fmla="val 7758"/>
            </a:avLst>
          </a:prstGeom>
          <a:solidFill>
            <a:srgbClr val="FFFFFF"/>
          </a:solidFill>
          <a:ln w="6350">
            <a:solidFill>
              <a:srgbClr val="DDE1EA"/>
            </a:solidFill>
            <a:prstDash val="solid"/>
          </a:ln>
        </p:spPr>
      </p:sp>
      <p:sp>
        <p:nvSpPr>
          <p:cNvPr id="8" name="Text 6"/>
          <p:cNvSpPr/>
          <p:nvPr/>
        </p:nvSpPr>
        <p:spPr>
          <a:xfrm>
            <a:off x="6407150" y="1743670"/>
            <a:ext cx="40640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01A"/>
                </a:solidFill>
                <a:latin typeface="Georgia" pitchFamily="18" charset="0"/>
                <a:ea typeface="Georgia" pitchFamily="18" charset="-122"/>
                <a:cs typeface="Georgia" pitchFamily="18" charset="-120"/>
              </a:rPr>
              <a:t>2</a:t>
            </a:r>
            <a:endParaRPr lang="en-US" sz="3200" dirty="0"/>
          </a:p>
        </p:txBody>
      </p:sp>
      <p:sp>
        <p:nvSpPr>
          <p:cNvPr id="9" name="Text 7"/>
          <p:cNvSpPr/>
          <p:nvPr/>
        </p:nvSpPr>
        <p:spPr>
          <a:xfrm>
            <a:off x="6915150" y="1743670"/>
            <a:ext cx="4382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3F"/>
                </a:solidFill>
                <a:latin typeface="Georgia" pitchFamily="18" charset="0"/>
                <a:ea typeface="Georgia" pitchFamily="18" charset="-122"/>
                <a:cs typeface="Georgia" pitchFamily="18" charset="-120"/>
              </a:rPr>
              <a:t>Messaging bot</a:t>
            </a:r>
            <a:endParaRPr lang="en-US" sz="1700" dirty="0"/>
          </a:p>
        </p:txBody>
      </p:sp>
      <p:sp>
        <p:nvSpPr>
          <p:cNvPr id="10" name="Text 8"/>
          <p:cNvSpPr/>
          <p:nvPr/>
        </p:nvSpPr>
        <p:spPr>
          <a:xfrm>
            <a:off x="6915150" y="2066230"/>
            <a:ext cx="43821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A WhatsApp or Telegram bot for one-tap checks.</a:t>
            </a:r>
            <a:endParaRPr lang="en-US" sz="1500" dirty="0"/>
          </a:p>
        </p:txBody>
      </p:sp>
      <p:sp>
        <p:nvSpPr>
          <p:cNvPr id="11" name="Shape 9"/>
          <p:cNvSpPr/>
          <p:nvPr/>
        </p:nvSpPr>
        <p:spPr>
          <a:xfrm>
            <a:off x="815975" y="3015555"/>
            <a:ext cx="5175250" cy="1268710"/>
          </a:xfrm>
          <a:prstGeom prst="roundRect">
            <a:avLst>
              <a:gd name="adj" fmla="val 7758"/>
            </a:avLst>
          </a:prstGeom>
          <a:solidFill>
            <a:srgbClr val="FFFFFF"/>
          </a:solidFill>
          <a:ln w="6350">
            <a:solidFill>
              <a:srgbClr val="DDE1EA"/>
            </a:solidFill>
            <a:prstDash val="solid"/>
          </a:ln>
        </p:spPr>
      </p:sp>
      <p:sp>
        <p:nvSpPr>
          <p:cNvPr id="12" name="Text 10"/>
          <p:cNvSpPr/>
          <p:nvPr/>
        </p:nvSpPr>
        <p:spPr>
          <a:xfrm>
            <a:off x="1022350" y="3221930"/>
            <a:ext cx="40640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01A"/>
                </a:solidFill>
                <a:latin typeface="Georgia" pitchFamily="18" charset="0"/>
                <a:ea typeface="Georgia" pitchFamily="18" charset="-122"/>
                <a:cs typeface="Georgia" pitchFamily="18" charset="-120"/>
              </a:rPr>
              <a:t>3</a:t>
            </a:r>
            <a:endParaRPr lang="en-US" sz="3200" dirty="0"/>
          </a:p>
        </p:txBody>
      </p:sp>
      <p:sp>
        <p:nvSpPr>
          <p:cNvPr id="13" name="Text 11"/>
          <p:cNvSpPr/>
          <p:nvPr/>
        </p:nvSpPr>
        <p:spPr>
          <a:xfrm>
            <a:off x="1530350" y="3221930"/>
            <a:ext cx="4382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3F"/>
                </a:solidFill>
                <a:latin typeface="Georgia" pitchFamily="18" charset="0"/>
                <a:ea typeface="Georgia" pitchFamily="18" charset="-122"/>
                <a:cs typeface="Georgia" pitchFamily="18" charset="-120"/>
              </a:rPr>
              <a:t>Stronger model</a:t>
            </a:r>
            <a:endParaRPr lang="en-US" sz="1700" dirty="0"/>
          </a:p>
        </p:txBody>
      </p:sp>
      <p:sp>
        <p:nvSpPr>
          <p:cNvPr id="14" name="Text 12"/>
          <p:cNvSpPr/>
          <p:nvPr/>
        </p:nvSpPr>
        <p:spPr>
          <a:xfrm>
            <a:off x="1530350" y="3544491"/>
            <a:ext cx="438213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Try a multilingual BERT model on the larger dataset.</a:t>
            </a:r>
            <a:endParaRPr lang="en-US" sz="1500" dirty="0"/>
          </a:p>
        </p:txBody>
      </p:sp>
      <p:sp>
        <p:nvSpPr>
          <p:cNvPr id="15" name="Shape 13"/>
          <p:cNvSpPr/>
          <p:nvPr/>
        </p:nvSpPr>
        <p:spPr>
          <a:xfrm>
            <a:off x="6200775" y="3015555"/>
            <a:ext cx="5175250" cy="1268710"/>
          </a:xfrm>
          <a:prstGeom prst="roundRect">
            <a:avLst>
              <a:gd name="adj" fmla="val 7758"/>
            </a:avLst>
          </a:prstGeom>
          <a:solidFill>
            <a:srgbClr val="FFFFFF"/>
          </a:solidFill>
          <a:ln w="6350">
            <a:solidFill>
              <a:srgbClr val="DDE1EA"/>
            </a:solidFill>
            <a:prstDash val="solid"/>
          </a:ln>
        </p:spPr>
      </p:sp>
      <p:sp>
        <p:nvSpPr>
          <p:cNvPr id="16" name="Text 14"/>
          <p:cNvSpPr/>
          <p:nvPr/>
        </p:nvSpPr>
        <p:spPr>
          <a:xfrm>
            <a:off x="6407150" y="3221930"/>
            <a:ext cx="40640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01A"/>
                </a:solidFill>
                <a:latin typeface="Georgia" pitchFamily="18" charset="0"/>
                <a:ea typeface="Georgia" pitchFamily="18" charset="-122"/>
                <a:cs typeface="Georgia" pitchFamily="18" charset="-120"/>
              </a:rPr>
              <a:t>4</a:t>
            </a:r>
            <a:endParaRPr lang="en-US" sz="3200" dirty="0"/>
          </a:p>
        </p:txBody>
      </p:sp>
      <p:sp>
        <p:nvSpPr>
          <p:cNvPr id="17" name="Text 15"/>
          <p:cNvSpPr/>
          <p:nvPr/>
        </p:nvSpPr>
        <p:spPr>
          <a:xfrm>
            <a:off x="6915150" y="3221930"/>
            <a:ext cx="43821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3F"/>
                </a:solidFill>
                <a:latin typeface="Georgia" pitchFamily="18" charset="0"/>
                <a:ea typeface="Georgia" pitchFamily="18" charset="-122"/>
                <a:cs typeface="Georgia" pitchFamily="18" charset="-120"/>
              </a:rPr>
              <a:t>Link and sender checks</a:t>
            </a:r>
            <a:endParaRPr lang="en-US" sz="1700" dirty="0"/>
          </a:p>
        </p:txBody>
      </p:sp>
      <p:sp>
        <p:nvSpPr>
          <p:cNvPr id="18" name="Text 16"/>
          <p:cNvSpPr/>
          <p:nvPr/>
        </p:nvSpPr>
        <p:spPr>
          <a:xfrm>
            <a:off x="6915150" y="3544491"/>
            <a:ext cx="44577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Arial" pitchFamily="34" charset="0"/>
                <a:ea typeface="Arial" pitchFamily="34" charset="-122"/>
                <a:cs typeface="Arial" pitchFamily="34" charset="-120"/>
              </a:rPr>
              <a:t>Look at links and sender numbers, not only words.</a:t>
            </a:r>
            <a:endParaRPr lang="en-US" sz="1500" dirty="0"/>
          </a:p>
        </p:txBody>
      </p:sp>
      <p:sp>
        <p:nvSpPr>
          <p:cNvPr id="19"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Scam Message Detector · SDG 16</a:t>
            </a:r>
            <a:endParaRPr lang="en-US" sz="1200" dirty="0"/>
          </a:p>
        </p:txBody>
      </p:sp>
      <p:sp>
        <p:nvSpPr>
          <p:cNvPr id="20" name="Text 18"/>
          <p:cNvSpPr/>
          <p:nvPr/>
        </p:nvSpPr>
        <p:spPr>
          <a:xfrm>
            <a:off x="11049000" y="6238280"/>
            <a:ext cx="38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3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0" y="889000"/>
            <a:ext cx="2667000" cy="2667000"/>
          </a:xfrm>
          <a:prstGeom prst="rect">
            <a:avLst/>
          </a:prstGeom>
        </p:spPr>
      </p:pic>
      <p:pic>
        <p:nvPicPr>
          <p:cNvPr id="3" name="Image 1" descr="Lock">    </p:cNvPr>
          <p:cNvPicPr>
            <a:picLocks noChangeAspect="1"/>
          </p:cNvPicPr>
          <p:nvPr/>
        </p:nvPicPr>
        <p:blipFill>
          <a:blip r:embed="rId2"/>
          <a:srcRect l="0" r="0" t="0" b="0"/>
          <a:stretch/>
        </p:blipFill>
        <p:spPr>
          <a:xfrm>
            <a:off x="8763000" y="1524000"/>
            <a:ext cx="1397000" cy="1397000"/>
          </a:xfrm>
          <a:prstGeom prst="rect">
            <a:avLst/>
          </a:prstGeom>
        </p:spPr>
      </p:pic>
      <p:sp>
        <p:nvSpPr>
          <p:cNvPr id="4" name="Text 0"/>
          <p:cNvSpPr/>
          <p:nvPr>
            <p:ph type="title"/>
          </p:nvPr>
        </p:nvSpPr>
        <p:spPr>
          <a:xfrm>
            <a:off x="812800" y="2362200"/>
            <a:ext cx="7194550" cy="807641"/>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7F6F2"/>
                </a:solidFill>
                <a:latin typeface="Georgia" pitchFamily="18" charset="0"/>
                <a:ea typeface="Georgia" pitchFamily="18" charset="-122"/>
                <a:cs typeface="Georgia" pitchFamily="18" charset="-120"/>
              </a:rPr>
              <a:t>Thank you</a:t>
            </a:r>
            <a:endParaRPr lang="en-US" sz="5600" dirty="0"/>
          </a:p>
        </p:txBody>
      </p:sp>
      <p:sp>
        <p:nvSpPr>
          <p:cNvPr id="5" name="Text 1"/>
          <p:cNvSpPr/>
          <p:nvPr/>
        </p:nvSpPr>
        <p:spPr>
          <a:xfrm>
            <a:off x="812800" y="3322241"/>
            <a:ext cx="71945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FC8E0"/>
                </a:solidFill>
                <a:latin typeface="Arial" pitchFamily="34" charset="0"/>
                <a:ea typeface="Arial" pitchFamily="34" charset="-122"/>
                <a:cs typeface="Arial" pitchFamily="34" charset="-120"/>
              </a:rPr>
              <a:t>Suspicious message? Do not click, and never share your OTP. In India, report cyber fraud on 1930.</a:t>
            </a:r>
            <a:endParaRPr lang="en-US" sz="2000" dirty="0"/>
          </a:p>
        </p:txBody>
      </p:sp>
      <p:sp>
        <p:nvSpPr>
          <p:cNvPr id="6" name="Text 2"/>
          <p:cNvSpPr/>
          <p:nvPr/>
        </p:nvSpPr>
        <p:spPr>
          <a:xfrm>
            <a:off x="812800" y="4211241"/>
            <a:ext cx="71945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772E"/>
                </a:solidFill>
                <a:latin typeface="Arial" pitchFamily="34" charset="0"/>
                <a:ea typeface="Arial" pitchFamily="34" charset="-122"/>
                <a:cs typeface="Arial" pitchFamily="34" charset="-120"/>
              </a:rPr>
              <a:t>Questions?</a:t>
            </a:r>
            <a:endParaRPr lang="en-US" sz="1600" dirty="0"/>
          </a:p>
        </p:txBody>
      </p:sp>
      <p:sp>
        <p:nvSpPr>
          <p:cNvPr id="7" name="Text 3"/>
          <p:cNvSpPr/>
          <p:nvPr/>
        </p:nvSpPr>
        <p:spPr>
          <a:xfrm>
            <a:off x="812800" y="6045200"/>
            <a:ext cx="91567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E0"/>
                </a:solidFill>
                <a:latin typeface="Arial" pitchFamily="34" charset="0"/>
                <a:ea typeface="Arial" pitchFamily="34" charset="-122"/>
                <a:cs typeface="Arial" pitchFamily="34" charset="-120"/>
              </a:rPr>
              <a:t>Khushi Patidar · BCA Mandsaur University</a:t>
            </a:r>
            <a:endParaRPr lang="en-US" sz="1400" dirty="0"/>
          </a:p>
        </p:txBody>
      </p:sp>
    </p:spTree>
  </p:cSld>
  <p:clrMapOvr>
    <a:masterClrMapping/>
  </p:clrMapOvr>
</p:sld>
</file>

<file path=ppt/theme/theme1.xml><?xml version="1.0" encoding="utf-8"?>
<a:theme xmlns:a="http://schemas.openxmlformats.org/drawingml/2006/main" name="Scam Message Detector – SDG 16">
  <a:themeElements>
    <a:clrScheme name="Scam Message Detector – SDG 16">
      <a:dk1>
        <a:srgbClr val="12203F"/>
      </a:dk1>
      <a:lt1>
        <a:srgbClr val="F7F6F2"/>
      </a:lt1>
      <a:dk2>
        <a:srgbClr val="4B566C"/>
      </a:dk2>
      <a:lt2>
        <a:srgbClr val="E0E1E0"/>
      </a:lt2>
      <a:accent1>
        <a:srgbClr val="2F5BEA"/>
      </a:accent1>
      <a:accent2>
        <a:srgbClr val="E8772E"/>
      </a:accent2>
      <a:accent3>
        <a:srgbClr val="1F3263"/>
      </a:accent3>
      <a:accent4>
        <a:srgbClr val="B4501A"/>
      </a:accent4>
      <a:accent5>
        <a:srgbClr val="4A5568"/>
      </a:accent5>
      <a:accent6>
        <a:srgbClr val="BFC8E0"/>
      </a:accent6>
      <a:hlink>
        <a:srgbClr val="0563C1"/>
      </a:hlink>
      <a:folHlink>
        <a:srgbClr val="954F72"/>
      </a:folHlink>
    </a:clrScheme>
    <a:fontScheme name="Scam Message Detector – SDG 16">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Scam Message Detector – SDG 16</dc:title>
  <dc:subject/>
  <dc:creator/>
  <cp:lastModifiedBy/>
  <cp:revision>1</cp:revision>
  <dcterms:created xsi:type="dcterms:W3CDTF">2026-10-10T06:24:05Z</dcterms:created>
  <dcterms:modified xsi:type="dcterms:W3CDTF">2026-10-10T06:24:05Z</dcterms:modified>
</cp:coreProperties>
</file>